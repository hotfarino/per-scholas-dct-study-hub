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c30a94464247f3" /><Relationship Type="http://schemas.openxmlformats.org/officeDocument/2006/relationships/extended-properties" Target="/docProps/app.xml" Id="R3230821f24f64c02" /><Relationship Type="http://schemas.openxmlformats.org/officeDocument/2006/relationships/officeDocument" Target="/ppt/presentation.xml" Id="R544c3813819140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b71d3c12cd4bc6"/>
  </p:sldMasterIdLst>
  <p:notesMasterIdLst>
    <p:notesMasterId xmlns:r="http://schemas.openxmlformats.org/officeDocument/2006/relationships" r:id="R7cf5e5cc07554a3e"/>
  </p:notesMasterIdLst>
  <p:sldIdLst>
    <p:sldId xmlns:r="http://schemas.openxmlformats.org/officeDocument/2006/relationships" id="256" r:id="R0b9c27b544734b12"/>
    <p:sldId xmlns:r="http://schemas.openxmlformats.org/officeDocument/2006/relationships" id="257" r:id="Ra722c51eccca4a6c"/>
    <p:sldId xmlns:r="http://schemas.openxmlformats.org/officeDocument/2006/relationships" id="258" r:id="Re39a135e49694faf"/>
    <p:sldId xmlns:r="http://schemas.openxmlformats.org/officeDocument/2006/relationships" id="259" r:id="R81d89cbc3d444b2e"/>
    <p:sldId xmlns:r="http://schemas.openxmlformats.org/officeDocument/2006/relationships" id="260" r:id="R98a86eae65a6465e"/>
    <p:sldId xmlns:r="http://schemas.openxmlformats.org/officeDocument/2006/relationships" id="261" r:id="R14af993baa804bb6"/>
    <p:sldId xmlns:r="http://schemas.openxmlformats.org/officeDocument/2006/relationships" id="262" r:id="R9f084973f6cd4f07"/>
    <p:sldId xmlns:r="http://schemas.openxmlformats.org/officeDocument/2006/relationships" id="263" r:id="Rbb2586f7b9234b16"/>
    <p:sldId xmlns:r="http://schemas.openxmlformats.org/officeDocument/2006/relationships" id="264" r:id="R1d11857582b54a68"/>
    <p:sldId xmlns:r="http://schemas.openxmlformats.org/officeDocument/2006/relationships" id="265" r:id="Rf9dddb0ae9b745e1"/>
    <p:sldId xmlns:r="http://schemas.openxmlformats.org/officeDocument/2006/relationships" id="266" r:id="R4dc83b225c524e3d"/>
    <p:sldId xmlns:r="http://schemas.openxmlformats.org/officeDocument/2006/relationships" id="267" r:id="R6224052f1ec94881"/>
    <p:sldId xmlns:r="http://schemas.openxmlformats.org/officeDocument/2006/relationships" id="268" r:id="R14d1740b1dc24df1"/>
    <p:sldId xmlns:r="http://schemas.openxmlformats.org/officeDocument/2006/relationships" id="269" r:id="Rec7512fed5e34c3c"/>
    <p:sldId xmlns:r="http://schemas.openxmlformats.org/officeDocument/2006/relationships" id="270" r:id="Raccf39f135104a77"/>
    <p:sldId xmlns:r="http://schemas.openxmlformats.org/officeDocument/2006/relationships" id="271" r:id="R0b89266626d64d9f"/>
    <p:sldId xmlns:r="http://schemas.openxmlformats.org/officeDocument/2006/relationships" id="272" r:id="Rc6d86cd5424241b7"/>
    <p:sldId xmlns:r="http://schemas.openxmlformats.org/officeDocument/2006/relationships" id="273" r:id="R5a2f44ba070d48ef"/>
    <p:sldId xmlns:r="http://schemas.openxmlformats.org/officeDocument/2006/relationships" id="274" r:id="R28cde1d40dc64962"/>
    <p:sldId xmlns:r="http://schemas.openxmlformats.org/officeDocument/2006/relationships" id="275" r:id="R83a935a7237e4a41"/>
    <p:sldId xmlns:r="http://schemas.openxmlformats.org/officeDocument/2006/relationships" id="276" r:id="Rc810fd59f3b84193"/>
    <p:sldId xmlns:r="http://schemas.openxmlformats.org/officeDocument/2006/relationships" id="277" r:id="R77f4d34a38b4427e"/>
    <p:sldId xmlns:r="http://schemas.openxmlformats.org/officeDocument/2006/relationships" id="278" r:id="R331e7916888d4713"/>
    <p:sldId xmlns:r="http://schemas.openxmlformats.org/officeDocument/2006/relationships" id="279" r:id="R651a8e7236c647b6"/>
    <p:sldId xmlns:r="http://schemas.openxmlformats.org/officeDocument/2006/relationships" id="280" r:id="R45e816eb45e04681"/>
    <p:sldId xmlns:r="http://schemas.openxmlformats.org/officeDocument/2006/relationships" id="281" r:id="Re32b665958c34794"/>
    <p:sldId xmlns:r="http://schemas.openxmlformats.org/officeDocument/2006/relationships" id="282" r:id="Rb686dec591404688"/>
    <p:sldId xmlns:r="http://schemas.openxmlformats.org/officeDocument/2006/relationships" id="283" r:id="R8390c5c1ef1f4d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a26f82ecd849b7" /><Relationship Type="http://schemas.openxmlformats.org/officeDocument/2006/relationships/slideMaster" Target="/ppt/slideMasters/slideMaster1.xml" Id="R07b71d3c12cd4bc6" /><Relationship Type="http://schemas.openxmlformats.org/officeDocument/2006/relationships/notesMaster" Target="/ppt/notesMasters/notesMaster1.xml" Id="R7cf5e5cc07554a3e" /><Relationship Type="http://schemas.openxmlformats.org/officeDocument/2006/relationships/presProps" Target="/ppt/presProps.xml" Id="R087a356af4774155" /><Relationship Type="http://schemas.openxmlformats.org/officeDocument/2006/relationships/tableStyles" Target="/ppt/tableStyles.xml" Id="Rd3e4359959da413d" /><Relationship Type="http://schemas.openxmlformats.org/officeDocument/2006/relationships/slide" Target="/ppt/slides/slide1.xml" Id="R0b9c27b544734b12" /><Relationship Type="http://schemas.openxmlformats.org/officeDocument/2006/relationships/slide" Target="/ppt/slides/slide2.xml" Id="Ra722c51eccca4a6c" /><Relationship Type="http://schemas.openxmlformats.org/officeDocument/2006/relationships/slide" Target="/ppt/slides/slide3.xml" Id="Re39a135e49694faf" /><Relationship Type="http://schemas.openxmlformats.org/officeDocument/2006/relationships/slide" Target="/ppt/slides/slide4.xml" Id="R81d89cbc3d444b2e" /><Relationship Type="http://schemas.openxmlformats.org/officeDocument/2006/relationships/slide" Target="/ppt/slides/slide5.xml" Id="R98a86eae65a6465e" /><Relationship Type="http://schemas.openxmlformats.org/officeDocument/2006/relationships/slide" Target="/ppt/slides/slide6.xml" Id="R14af993baa804bb6" /><Relationship Type="http://schemas.openxmlformats.org/officeDocument/2006/relationships/slide" Target="/ppt/slides/slide7.xml" Id="R9f084973f6cd4f07" /><Relationship Type="http://schemas.openxmlformats.org/officeDocument/2006/relationships/slide" Target="/ppt/slides/slide8.xml" Id="Rbb2586f7b9234b16" /><Relationship Type="http://schemas.openxmlformats.org/officeDocument/2006/relationships/slide" Target="/ppt/slides/slide9.xml" Id="R1d11857582b54a68" /><Relationship Type="http://schemas.openxmlformats.org/officeDocument/2006/relationships/slide" Target="/ppt/slides/slide10.xml" Id="Rf9dddb0ae9b745e1" /><Relationship Type="http://schemas.openxmlformats.org/officeDocument/2006/relationships/slide" Target="/ppt/slides/slide11.xml" Id="R4dc83b225c524e3d" /><Relationship Type="http://schemas.openxmlformats.org/officeDocument/2006/relationships/slide" Target="/ppt/slides/slide12.xml" Id="R6224052f1ec94881" /><Relationship Type="http://schemas.openxmlformats.org/officeDocument/2006/relationships/slide" Target="/ppt/slides/slide13.xml" Id="R14d1740b1dc24df1" /><Relationship Type="http://schemas.openxmlformats.org/officeDocument/2006/relationships/slide" Target="/ppt/slides/slide14.xml" Id="Rec7512fed5e34c3c" /><Relationship Type="http://schemas.openxmlformats.org/officeDocument/2006/relationships/slide" Target="/ppt/slides/slide15.xml" Id="Raccf39f135104a77" /><Relationship Type="http://schemas.openxmlformats.org/officeDocument/2006/relationships/slide" Target="/ppt/slides/slide16.xml" Id="R0b89266626d64d9f" /><Relationship Type="http://schemas.openxmlformats.org/officeDocument/2006/relationships/slide" Target="/ppt/slides/slide17.xml" Id="Rc6d86cd5424241b7" /><Relationship Type="http://schemas.openxmlformats.org/officeDocument/2006/relationships/slide" Target="/ppt/slides/slide18.xml" Id="R5a2f44ba070d48ef" /><Relationship Type="http://schemas.openxmlformats.org/officeDocument/2006/relationships/slide" Target="/ppt/slides/slide19.xml" Id="R28cde1d40dc64962" /><Relationship Type="http://schemas.openxmlformats.org/officeDocument/2006/relationships/slide" Target="/ppt/slides/slide20.xml" Id="R83a935a7237e4a41" /><Relationship Type="http://schemas.openxmlformats.org/officeDocument/2006/relationships/slide" Target="/ppt/slides/slide21.xml" Id="Rc810fd59f3b84193" /><Relationship Type="http://schemas.openxmlformats.org/officeDocument/2006/relationships/slide" Target="/ppt/slides/slide22.xml" Id="R77f4d34a38b4427e" /><Relationship Type="http://schemas.openxmlformats.org/officeDocument/2006/relationships/slide" Target="/ppt/slides/slide23.xml" Id="R331e7916888d4713" /><Relationship Type="http://schemas.openxmlformats.org/officeDocument/2006/relationships/slide" Target="/ppt/slides/slide24.xml" Id="R651a8e7236c647b6" /><Relationship Type="http://schemas.openxmlformats.org/officeDocument/2006/relationships/slide" Target="/ppt/slides/slide25.xml" Id="R45e816eb45e04681" /><Relationship Type="http://schemas.openxmlformats.org/officeDocument/2006/relationships/slide" Target="/ppt/slides/slide26.xml" Id="Re32b665958c34794" /><Relationship Type="http://schemas.openxmlformats.org/officeDocument/2006/relationships/slide" Target="/ppt/slides/slide27.xml" Id="Rb686dec591404688" /><Relationship Type="http://schemas.openxmlformats.org/officeDocument/2006/relationships/slide" Target="/ppt/slides/slide28.xml" Id="R8390c5c1ef1f4d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2b72f6fdd54f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4e79ebc25241e4" /><Relationship Type="http://schemas.openxmlformats.org/officeDocument/2006/relationships/notesMaster" Target="/ppt/notesMasters/notesMaster1.xml" Id="R6e8e4b6e2c9d4a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ddb0d77a614d85" /><Relationship Type="http://schemas.openxmlformats.org/officeDocument/2006/relationships/notesMaster" Target="/ppt/notesMasters/notesMaster1.xml" Id="R6a8eda392f6c46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a0f3944e274edf" /><Relationship Type="http://schemas.openxmlformats.org/officeDocument/2006/relationships/notesMaster" Target="/ppt/notesMasters/notesMaster1.xml" Id="R137c15279db847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1723efeb654fa3" /><Relationship Type="http://schemas.openxmlformats.org/officeDocument/2006/relationships/notesMaster" Target="/ppt/notesMasters/notesMaster1.xml" Id="Rcbc47738f8384f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0b236fa7e14fa9" /><Relationship Type="http://schemas.openxmlformats.org/officeDocument/2006/relationships/notesMaster" Target="/ppt/notesMasters/notesMaster1.xml" Id="R24e5fe1052324f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88db42f6f64309" /><Relationship Type="http://schemas.openxmlformats.org/officeDocument/2006/relationships/notesMaster" Target="/ppt/notesMasters/notesMaster1.xml" Id="R3aaeb575f58541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a3733673224dec" /><Relationship Type="http://schemas.openxmlformats.org/officeDocument/2006/relationships/notesMaster" Target="/ppt/notesMasters/notesMaster1.xml" Id="R07c5b20c4cbe45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6d4a58bd3544a5" /><Relationship Type="http://schemas.openxmlformats.org/officeDocument/2006/relationships/notesMaster" Target="/ppt/notesMasters/notesMaster1.xml" Id="R783034041b4d49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8262cb9cbd4b5c" /><Relationship Type="http://schemas.openxmlformats.org/officeDocument/2006/relationships/notesMaster" Target="/ppt/notesMasters/notesMaster1.xml" Id="R8c9eae3607cd40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853402d6d24d58" /><Relationship Type="http://schemas.openxmlformats.org/officeDocument/2006/relationships/notesMaster" Target="/ppt/notesMasters/notesMaster1.xml" Id="R59e097893dd042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9d0420893c4bc2" /><Relationship Type="http://schemas.openxmlformats.org/officeDocument/2006/relationships/notesMaster" Target="/ppt/notesMasters/notesMaster1.xml" Id="R0518b1be42fe4c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2897ab0aaa4c8b" /><Relationship Type="http://schemas.openxmlformats.org/officeDocument/2006/relationships/notesMaster" Target="/ppt/notesMasters/notesMaster1.xml" Id="R4e579dbee0cf44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60edc84fdd4278" /><Relationship Type="http://schemas.openxmlformats.org/officeDocument/2006/relationships/notesMaster" Target="/ppt/notesMasters/notesMaster1.xml" Id="Rfc2f46d083c84c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0fd83318864703" /><Relationship Type="http://schemas.openxmlformats.org/officeDocument/2006/relationships/notesMaster" Target="/ppt/notesMasters/notesMaster1.xml" Id="R58a62cf7580142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11fb8bc0254e23" /><Relationship Type="http://schemas.openxmlformats.org/officeDocument/2006/relationships/notesMaster" Target="/ppt/notesMasters/notesMaster1.xml" Id="R139a75b2899740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7a2b75abf34e43" /><Relationship Type="http://schemas.openxmlformats.org/officeDocument/2006/relationships/notesMaster" Target="/ppt/notesMasters/notesMaster1.xml" Id="Re12650f3e91b4c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2dd350b0ee48f6" /><Relationship Type="http://schemas.openxmlformats.org/officeDocument/2006/relationships/notesMaster" Target="/ppt/notesMasters/notesMaster1.xml" Id="Re0e2e5a0a13148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f790677aec4988" /><Relationship Type="http://schemas.openxmlformats.org/officeDocument/2006/relationships/notesMaster" Target="/ppt/notesMasters/notesMaster1.xml" Id="Re92bdafb8b0447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f9cdff65aec485b" /><Relationship Type="http://schemas.openxmlformats.org/officeDocument/2006/relationships/notesMaster" Target="/ppt/notesMasters/notesMaster1.xml" Id="Re24803bc765248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53d45f3d144f4c" /><Relationship Type="http://schemas.openxmlformats.org/officeDocument/2006/relationships/notesMaster" Target="/ppt/notesMasters/notesMaster1.xml" Id="R89268ca32541475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f864d61d5794265" /><Relationship Type="http://schemas.openxmlformats.org/officeDocument/2006/relationships/notesMaster" Target="/ppt/notesMasters/notesMaster1.xml" Id="R714a8b9cdd19482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b2be93e7ad4677" /><Relationship Type="http://schemas.openxmlformats.org/officeDocument/2006/relationships/notesMaster" Target="/ppt/notesMasters/notesMaster1.xml" Id="Rb1ec26a19cb7426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7bbfab0381a4596" /><Relationship Type="http://schemas.openxmlformats.org/officeDocument/2006/relationships/notesMaster" Target="/ppt/notesMasters/notesMaster1.xml" Id="R57f18ef516fb441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2a5879916a4d5e" /><Relationship Type="http://schemas.openxmlformats.org/officeDocument/2006/relationships/notesMaster" Target="/ppt/notesMasters/notesMaster1.xml" Id="R5be5e6b4eba0467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7ee4985198a4a53" /><Relationship Type="http://schemas.openxmlformats.org/officeDocument/2006/relationships/notesMaster" Target="/ppt/notesMasters/notesMaster1.xml" Id="Ra67c065672074a9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4696c740f964b11" /><Relationship Type="http://schemas.openxmlformats.org/officeDocument/2006/relationships/notesMaster" Target="/ppt/notesMasters/notesMaster1.xml" Id="Rd4f2574df7c7484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e0de523822b4335" /><Relationship Type="http://schemas.openxmlformats.org/officeDocument/2006/relationships/notesMaster" Target="/ppt/notesMasters/notesMaster1.xml" Id="Reafebc3d4e4246b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07ef657f35b4b4a" /><Relationship Type="http://schemas.openxmlformats.org/officeDocument/2006/relationships/notesMaster" Target="/ppt/notesMasters/notesMaster1.xml" Id="R76f55ae5228040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Aligned to public CompTIA A+ Core 2 220-1202 objectives, especially 1.4–1.7. Protocol foundations support the Windows troubleshooting skills; this is not an official CompTIA publication or an exam prediction. Windows menus vary by build and edition. All mock monitoring values are fictional.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CompTIA A+ 220-1202 objectives</a:t>
            </a:r>
          </a:p>
          <a:p xmlns:a="http://schemas.openxmlformats.org/drawingml/2006/main">
            <a:r>
              <a:t>https://comptiacdn.azureedge.net/webcontent/docs/default-source/exam-objectives/comptia-a-220-1202-exam-objectives.pdf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Baseline: a new HTTPS-over-TCP connection using IPv4, Ethernet, no proxy or VPN, and a DNS cache miss. For each outgoing packet, routing chooses an interface/next hop and ARP resolves a local MAC if needed. DNS may therefore itself need ARP. Browser caching, connection reuse, IPv6 and HTTP/3 change this path. Rendering and downloading can overlap.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CompTIA A+ 220-1202 objectives</a:t>
            </a:r>
          </a:p>
          <a:p xmlns:a="http://schemas.openxmlformats.org/drawingml/2006/main">
            <a:r>
              <a:t>https://comptiacdn.azureedge.net/webcontent/docs/default-source/exam-objectives/comptia-a-220-1202-exam-objectives.pdf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TCP handshake</a:t>
            </a:r>
          </a:p>
          <a:p xmlns:a="http://schemas.openxmlformats.org/drawingml/2006/main">
            <a:r>
              <a:t>https://learn.microsoft.com/en-us/troubleshoot/windows-server/networking/three-way-handshake-via-tcpip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DNS architecture</a:t>
            </a:r>
          </a:p>
          <a:p xmlns:a="http://schemas.openxmlformats.org/drawingml/2006/main">
            <a:r>
              <a:t>https://learn.microsoft.com/en-us/windows-server/networking/dns/dns-architecture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ARP / RFC 826</a:t>
            </a:r>
          </a:p>
          <a:p xmlns:a="http://schemas.openxmlformats.org/drawingml/2006/main">
            <a:r>
              <a:t>https://www.rfc-editor.org/rfc/rfc826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TLS 1.3 / RFC 8446</a:t>
            </a:r>
          </a:p>
          <a:p xmlns:a="http://schemas.openxmlformats.org/drawingml/2006/main">
            <a:r>
              <a:t>https://www.rfc-editor.org/rfc/rfc8446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Edge Network tool</a:t>
            </a:r>
          </a:p>
          <a:p xmlns:a="http://schemas.openxmlformats.org/drawingml/2006/main">
            <a:r>
              <a:t>https://learn.microsoft.com/en-us/microsoft-edge/devtools/network/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 means local area network. /24 is prefix length: 24 network bits, equivalent to 255.255.255.0. In this example, .0 identifies the subnet and .255 is its broadcast address. The DNS resolver is local; the web server is remote. The router is also the default gateway. A real router may translate the private client address to a public address using NAT/PAT.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TCP/IP addressing</a:t>
            </a:r>
          </a:p>
          <a:p xmlns:a="http://schemas.openxmlformats.org/drawingml/2006/main">
            <a:r>
              <a:t>https://learn.microsoft.com/en-us/troubleshoot/windows-client/networking/tcpip-addressing-and-subnetting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Private IPv4 / RFC 1918</a:t>
            </a:r>
          </a:p>
          <a:p xmlns:a="http://schemas.openxmlformats.org/drawingml/2006/main">
            <a:r>
              <a:t>https://www.rfc-editor.org/rfc/rfc1918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 = Internet Protocol. MAC = Media Access Control. A PC may have several physical/virtual adapters and multiple addresses. Use the active adapter, not a disconnected VPN adapter. A default route is a fallback; more specific routes win. DNS servers do not have to be on the same subnet.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ipconfig</a:t>
            </a:r>
          </a:p>
          <a:p xmlns:a="http://schemas.openxmlformats.org/drawingml/2006/main">
            <a:r>
              <a:t>https://learn.microsoft.com/en-us/windows-server/administration/windows-commands/ipconfig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TCP/IP addressing</a:t>
            </a:r>
          </a:p>
          <a:p xmlns:a="http://schemas.openxmlformats.org/drawingml/2006/main">
            <a:r>
              <a:t>https://learn.microsoft.com/en-us/troubleshoot/windows-client/networking/tcpip-addressing-and-subnetting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DNS architecture</a:t>
            </a:r>
          </a:p>
          <a:p xmlns:a="http://schemas.openxmlformats.org/drawingml/2006/main">
            <a:r>
              <a:t>https://learn.microsoft.com/en-us/windows-server/networking/dns/dns-architecture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exact Settings labels can vary across Windows builds. For saved Wi-Fi profiles, use Wi-Fi → Manage known networks → choose the profile. Do not change classmates’ addresses to the fictional example. Manual settings require a valid unique address and the correct network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Network settings</a:t>
            </a:r>
          </a:p>
          <a:p xmlns:a="http://schemas.openxmlformats.org/drawingml/2006/main">
            <a:r>
              <a:t>https://support.microsoft.com/en-us/windows/experience/connectivity-networking/essential-network-settings-and-tasks-in-windows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ipconfig</a:t>
            </a:r>
          </a:p>
          <a:p xmlns:a="http://schemas.openxmlformats.org/drawingml/2006/main">
            <a:r>
              <a:t>https://learn.microsoft.com/en-us/windows-server/administration/windows-commands/ipconfig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Windows Firewall</a:t>
            </a:r>
          </a:p>
          <a:p xmlns:a="http://schemas.openxmlformats.org/drawingml/2006/main">
            <a:r>
              <a:t>https://learn.microsoft.com/en-us/windows/security/operating-system-security/network-security/windows-firewall/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Schematic view, not a screenshot. A warning icon prompts you to inspect device status and error details. Check link/cable or Wi-Fi association too. A driver update can fix a specific issue; do not update, uninstall or disable adapters merely to observe traffic. Some adapters are virtual.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Device Manager</a:t>
            </a:r>
          </a:p>
          <a:p xmlns:a="http://schemas.openxmlformats.org/drawingml/2006/main">
            <a:r>
              <a:t>https://learn.microsoft.com/en-us/windows-hardware/drivers/install/using-device-manager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System configuration tools</a:t>
            </a:r>
          </a:p>
          <a:p xmlns:a="http://schemas.openxmlformats.org/drawingml/2006/main">
            <a:r>
              <a:t>https://support.microsoft.com/en-us/windows/experience/system-configuration-tools-in-windows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DORA is a memory aid for Discover, Offer, Request and Acknowledgment. Traditional DHCPv4 uses UDP server port 67 and client port 68. APIPA means Automatic Private IP Addressing; IPv4 link-local addresses are for the local link and are not forwarded by routers. They do not provide normal routed IPv4 Internet access by themselves. IPv6 may still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DHCP overview</a:t>
            </a:r>
          </a:p>
          <a:p xmlns:a="http://schemas.openxmlformats.org/drawingml/2006/main">
            <a:r>
              <a:t>https://learn.microsoft.com/en-us/windows-server/networking/technologies/dhcp/dhcp-top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IPv4 link-local / RFC 3927</a:t>
            </a:r>
          </a:p>
          <a:p xmlns:a="http://schemas.openxmlformats.org/drawingml/2006/main">
            <a:r>
              <a:t>https://www.rfc-editor.org/rfc/rfc3927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URL = Uniform Resource Locator. The browser may use its own cache or encrypted DNS; nslookup need not follow exactly the same path. Traditional DNS commonly uses UDP 53 and also TCP 53. DNS over HTTPS uses HTTPS. The browser can request multiple names, and a name can have many addresses. In our local-DNS example, the laptop may need ARP for the resolver before sending the query.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DNS architecture</a:t>
            </a:r>
          </a:p>
          <a:p xmlns:a="http://schemas.openxmlformats.org/drawingml/2006/main">
            <a:r>
              <a:t>https://learn.microsoft.com/en-us/windows-server/networking/dns/dns-architecture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DNS / RFC 1035</a:t>
            </a:r>
          </a:p>
          <a:p xmlns:a="http://schemas.openxmlformats.org/drawingml/2006/main">
            <a:r>
              <a:t>https://www.rfc-editor.org/rfc/rfc1035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ipconfig</a:t>
            </a:r>
          </a:p>
          <a:p xmlns:a="http://schemas.openxmlformats.org/drawingml/2006/main">
            <a:r>
              <a:t>https://learn.microsoft.com/en-us/windows-server/administration/windows-commands/ipconfig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Routing checks the route table and chooses the best matching route. route print or netstat -r displays routes. A basic Layer 2 switch forwards Ethernet frames using learned MAC addresses. A router forwards IP packets between networks. Link-layer headers are replaced at routed hops. ARP resolution is needed only when the relevant neighbor cache entry is missing or invalid.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IETF: ARP / RFC 826</a:t>
            </a:r>
          </a:p>
          <a:p xmlns:a="http://schemas.openxmlformats.org/drawingml/2006/main">
            <a:r>
              <a:t>https://www.rfc-editor.org/rfc/rfc826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TCP/IP addressing</a:t>
            </a:r>
          </a:p>
          <a:p xmlns:a="http://schemas.openxmlformats.org/drawingml/2006/main">
            <a:r>
              <a:t>https://learn.microsoft.com/en-us/troubleshoot/windows-client/networking/tcpip-addressing-and-subnetting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 = Hypertext Transfer Protocol. TCP = Transmission Control Protocol. TLS = Transport Layer Security. NIC = network interface controller. Ethernet is the chosen link for this example; Wi-Fi uses different link-layer framing. TCP retransmits missing data and presents ordered bytes; IP is best effort. A packet can carry only part of a larger application message.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IETF: TCP / RFC 9293</a:t>
            </a:r>
          </a:p>
          <a:p xmlns:a="http://schemas.openxmlformats.org/drawingml/2006/main">
            <a:r>
              <a:t>https://www.rfc-editor.org/rfc/rfc9293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ARP / RFC 826</a:t>
            </a:r>
          </a:p>
          <a:p xmlns:a="http://schemas.openxmlformats.org/drawingml/2006/main">
            <a:r>
              <a:t>https://www.rfc-editor.org/rfc/rfc826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TLS 1.3 / RFC 8446</a:t>
            </a:r>
          </a:p>
          <a:p xmlns:a="http://schemas.openxmlformats.org/drawingml/2006/main">
            <a:r>
              <a:t>https://www.rfc-editor.org/rfc/rfc8446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sample 64 → 63 → 62 is illustrative, not a guaranteed Windows initial TTL. Each forwarding router reduces IPv4 TTL by at least one. If it expires, an ICMP Time Exceeded response may return. ICMP = Internet Control Message Protocol. ping’s displayed reply TTL is the remaining budget of the reply, not the request’s elapsed time. Return routes and initial TTL values can differ.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tracert</a:t>
            </a:r>
          </a:p>
          <a:p xmlns:a="http://schemas.openxmlformats.org/drawingml/2006/main">
            <a:r>
              <a:t>https://learn.microsoft.com/en-us/windows-server/administration/windows-commands/tracert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DNS / RFC 1035</a:t>
            </a:r>
          </a:p>
          <a:p xmlns:a="http://schemas.openxmlformats.org/drawingml/2006/main">
            <a:r>
              <a:t>https://www.rfc-editor.org/rfc/rfc1035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port is a 16-bit transport identifier; TCP and UDP have separate port spaces. An ephemeral port is a temporary client-side choice, not a fixed service assignment. A socket is an operating-system communication endpoint/API concept. An established server connection has a specific peer; the listener can remain available for other clients. UDP has no TCP-style LISTENING or ESTABLISHED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IETF: TCP / RFC 9293</a:t>
            </a:r>
          </a:p>
          <a:p xmlns:a="http://schemas.openxmlformats.org/drawingml/2006/main">
            <a:r>
              <a:t>https://www.rfc-editor.org/rfc/rfc9293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netstat</a:t>
            </a:r>
          </a:p>
          <a:p xmlns:a="http://schemas.openxmlformats.org/drawingml/2006/main">
            <a:r>
              <a:t>https://learn.microsoft.com/en-us/windows-server/administration/windows-commands/netstat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IANA: Service port registry</a:t>
            </a:r>
          </a:p>
          <a:p xmlns:a="http://schemas.openxmlformats.org/drawingml/2006/main">
            <a:r>
              <a:t>https://www.iana.org/assignments/service-names-port-numbers/service-names-port-numbers.xhtml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diagram shows a normal new connection, excluding TCP Fast Open and other optimizations. During opening, the client may appear SYN_SENT and the server SYN_RECEIVED; the stable state is ESTABLISHED. These states can be too brief to catch in netstat. A timeout may indicate loss, filtering, a wrong address, or a server issue; it is not proof of a single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TCP handshake</a:t>
            </a:r>
          </a:p>
          <a:p xmlns:a="http://schemas.openxmlformats.org/drawingml/2006/main">
            <a:r>
              <a:t>https://learn.microsoft.com/en-us/troubleshoot/windows-server/networking/three-way-handshake-via-tcpip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TCP / RFC 9293</a:t>
            </a:r>
          </a:p>
          <a:p xmlns:a="http://schemas.openxmlformats.org/drawingml/2006/main">
            <a:r>
              <a:t>https://www.rfc-editor.org/rfc/rfc9293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TLS certificate checks include the requested hostname and trust chain, with validity periods relevant. Modern TLS uses negotiated cryptographic parameters; do not describe it as sending a password to unlock the server. netstat and Resource Monitor cannot show decrypted web content. DevTools can show the browser’s own decoded request/response information. Certificate troubleshooting must not mean bypassing warnings indiscriminately.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IETF: TLS 1.3 / RFC 8446</a:t>
            </a:r>
          </a:p>
          <a:p xmlns:a="http://schemas.openxmlformats.org/drawingml/2006/main">
            <a:r>
              <a:t>https://www.rfc-editor.org/rfc/rfc8446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Edge Network tool</a:t>
            </a:r>
          </a:p>
          <a:p xmlns:a="http://schemas.openxmlformats.org/drawingml/2006/main">
            <a:r>
              <a:t>https://learn.microsoft.com/en-us/microsoft-edge/devtools/network/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TCP / RFC 9293</a:t>
            </a:r>
          </a:p>
          <a:p xmlns:a="http://schemas.openxmlformats.org/drawingml/2006/main">
            <a:r>
              <a:t>https://www.rfc-editor.org/rfc/rfc9293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 = Hypertext Markup Language. CSS = Cascading Style Sheets. JS = JavaScript. QUIC is the protocol name, not an acronym that must be expanded. HTTP/2 can multiplex requests on a connection. TCP close uses FIN/ACK exchanges; TIME_WAIT can be a normal closing state. Resource loading and rendering are not strictly one long serial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Edge Network tool</a:t>
            </a:r>
          </a:p>
          <a:p xmlns:a="http://schemas.openxmlformats.org/drawingml/2006/main">
            <a:r>
              <a:t>https://learn.microsoft.com/en-us/microsoft-edge/devtools/network/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HTTP/3 / RFC 9114</a:t>
            </a:r>
          </a:p>
          <a:p xmlns:a="http://schemas.openxmlformats.org/drawingml/2006/main">
            <a:r>
              <a:t>https://www.rfc-editor.org/rfc/rfc9114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TCP / RFC 9293</a:t>
            </a:r>
          </a:p>
          <a:p xmlns:a="http://schemas.openxmlformats.org/drawingml/2006/main">
            <a:r>
              <a:t>https://www.rfc-editor.org/rfc/rfc9293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rows and PIDs are fabricated examples. -ano combines the three flags. UDP rows have no TCP state. netstat -ano 2 refreshes every two seconds; Ctrl+C stops it. Use -b only when needed and with sufficient permissions to show executables. A process may have many endpoints. A recognized port number does not authenticate the application using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netstat</a:t>
            </a:r>
          </a:p>
          <a:p xmlns:a="http://schemas.openxmlformats.org/drawingml/2006/main">
            <a:r>
              <a:t>https://learn.microsoft.com/en-us/windows-server/administration/windows-commands/netstat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MMC means Microsoft Management Console. A snap-in adds a management tool; an .msc file stores a console configuration. Tool availability and permissions can vary by Windows edition. MMC does not show all traffic merely because it is open. Choose a snap-in for the question you are investigating.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MMC</a:t>
            </a:r>
          </a:p>
          <a:p xmlns:a="http://schemas.openxmlformats.org/drawingml/2006/main">
            <a:r>
              <a:t>https://learn.microsoft.com/en-us/windows-server/administration/windows-commands/mmc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System configuration tools</a:t>
            </a:r>
          </a:p>
          <a:p xmlns:a="http://schemas.openxmlformats.org/drawingml/2006/main">
            <a:r>
              <a:t>https://support.microsoft.com/en-us/windows/experience/system-configuration-tools-in-windows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Performance Monitor</a:t>
            </a:r>
          </a:p>
          <a:p xmlns:a="http://schemas.openxmlformats.org/drawingml/2006/main">
            <a:r>
              <a:t>https://learn.microsoft.com/en-us/windows-server/administration/windows-commands/perfmon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Windows Firewall</a:t>
            </a:r>
          </a:p>
          <a:p xmlns:a="http://schemas.openxmlformats.org/drawingml/2006/main">
            <a:r>
              <a:t>https://learn.microsoft.com/en-us/windows/security/operating-system-security/network-security/windows-firewall/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PID values change as processes restart and can be reused. svchost.exe hosts Windows services; identify the specific service before judging its traffic. Optional Microsoft Sysinternals TCPView continuously lists endpoints and owners. Observe only: do not terminate processes, close endpoints or stop services during this lab. Tasklist /svc is supplemental command knowledge.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netstat</a:t>
            </a:r>
          </a:p>
          <a:p xmlns:a="http://schemas.openxmlformats.org/drawingml/2006/main">
            <a:r>
              <a:t>https://learn.microsoft.com/en-us/windows-server/administration/windows-commands/netstat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System configuration tools</a:t>
            </a:r>
          </a:p>
          <a:p xmlns:a="http://schemas.openxmlformats.org/drawingml/2006/main">
            <a:r>
              <a:t>https://support.microsoft.com/en-us/windows/experience/system-configuration-tools-in-windows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TCPView</a:t>
            </a:r>
          </a:p>
          <a:p xmlns:a="http://schemas.openxmlformats.org/drawingml/2006/main">
            <a:r>
              <a:t>https://learn.microsoft.com/en-us/sysinternals/downloads/tcpview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Resource Monitor Network tables can show per-process send/receive rates, addresses, TCP endpoints, latency and listeners depending on view. Select a process to filter relevant tables. These are metadata and rates, not a packet capture or decrypted content. You may need appropriate permissions to see some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System configuration tools</a:t>
            </a:r>
          </a:p>
          <a:p xmlns:a="http://schemas.openxmlformats.org/drawingml/2006/main">
            <a:r>
              <a:t>https://support.microsoft.com/en-us/windows/experience/system-configuration-tools-in-windows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Performance Monitor</a:t>
            </a:r>
          </a:p>
          <a:p xmlns:a="http://schemas.openxmlformats.org/drawingml/2006/main">
            <a:r>
              <a:t>https://learn.microsoft.com/en-us/windows-server/administration/windows-commands/perfmon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Network counters</a:t>
            </a:r>
          </a:p>
          <a:p xmlns:a="http://schemas.openxmlformats.org/drawingml/2006/main">
            <a:r>
              <a:t>https://learn.microsoft.com/en-us/windows-server/networking/technologies/network-subsystem/net-sub-performance-counters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= bytes; b = bits. The arithmetic uses decimal units. Total rate includes sent plus received traffic for the selected counter. Counter availability and names can vary by system/language. Rate samples vary over time and are not a guaranteed application download speed. Throughput is the achieved rate; latency is delay. They describe different performance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Network counters</a:t>
            </a:r>
          </a:p>
          <a:p xmlns:a="http://schemas.openxmlformats.org/drawingml/2006/main">
            <a:r>
              <a:t>https://learn.microsoft.com/en-us/windows-server/networking/technologies/network-subsystem/net-sub-performance-counters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Performance Monitor</a:t>
            </a:r>
          </a:p>
          <a:p xmlns:a="http://schemas.openxmlformats.org/drawingml/2006/main">
            <a:r>
              <a:t>https://learn.microsoft.com/en-us/windows-server/administration/windows-commands/perfmon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RAM = Random Access Memory. Performance Options and Performance Monitor are distinct tools. A slow page could involve CPU, disk, memory, DNS, network or server delay. Observe and isolate the bottleneck first. This guide does not recommend a universal page-file size or turning off protections.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PC performance options</a:t>
            </a:r>
          </a:p>
          <a:p xmlns:a="http://schemas.openxmlformats.org/drawingml/2006/main">
            <a:r>
              <a:t>https://support.microsoft.com/en-us/windows/experience/performance-optimization/tips-to-improve-pc-performance-in-windows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Performance Monitor</a:t>
            </a:r>
          </a:p>
          <a:p xmlns:a="http://schemas.openxmlformats.org/drawingml/2006/main">
            <a:r>
              <a:t>https://learn.microsoft.com/en-us/windows-server/administration/windows-commands/perfmon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System configuration tools</a:t>
            </a:r>
          </a:p>
          <a:p xmlns:a="http://schemas.openxmlformats.org/drawingml/2006/main">
            <a:r>
              <a:t>https://support.microsoft.com/en-us/windows/experience/system-configuration-tools-in-windows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schematic, not a screenshot or measured timing. HTTP 200 indicates success for that request, not that every resource on a page worked. Some assets may be cached. HTTP/3 requests may not appear in a TCP-only listing. HAR exports can contain tokens or personal information; do not share raw traffic logs with the class without reviewing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Edge Network tool</a:t>
            </a:r>
          </a:p>
          <a:p xmlns:a="http://schemas.openxmlformats.org/drawingml/2006/main">
            <a:r>
              <a:t>https://learn.microsoft.com/en-us/microsoft-edge/devtools/network/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HTTP/3 / RFC 9114</a:t>
            </a:r>
          </a:p>
          <a:p xmlns:a="http://schemas.openxmlformats.org/drawingml/2006/main">
            <a:r>
              <a:t>https://www.rfc-editor.org/rfc/rfc9114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NAT/PAT is optional and not the same as encryption or a firewall. A home router often combines routing, switching, Wi-Fi, NAT, DHCP and firewall functions. netstat on the client displays the client-side endpoint, not necessarily the translated public endpoint. This example omits proxy/VPN tunnels. A domain firewall profile is separate from public/private profiles.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Windows Firewall</a:t>
            </a:r>
          </a:p>
          <a:p xmlns:a="http://schemas.openxmlformats.org/drawingml/2006/main">
            <a:r>
              <a:t>https://learn.microsoft.com/en-us/windows/security/operating-system-security/network-security/windows-firewall/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Private IPv4 / RFC 1918</a:t>
            </a:r>
          </a:p>
          <a:p xmlns:a="http://schemas.openxmlformats.org/drawingml/2006/main">
            <a:r>
              <a:t>https://www.rfc-editor.org/rfc/rfc1918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site you are permitted to access. Record observations rather than claiming a predetermined output. example.com is a real demonstration domain, unlike portal.example in the fictional lab. A second page/refresh may reuse connections. The browser may contact multiple hosts; DNS/CDN results can vary. No release, renew, flush, firewall disable or driver changes are needed. Keep personal addresses and captured page data out of public class submissions.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ipconfig</a:t>
            </a:r>
          </a:p>
          <a:p xmlns:a="http://schemas.openxmlformats.org/drawingml/2006/main">
            <a:r>
              <a:t>https://learn.microsoft.com/en-us/windows-server/administration/windows-commands/ipconfig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netstat</a:t>
            </a:r>
          </a:p>
          <a:p xmlns:a="http://schemas.openxmlformats.org/drawingml/2006/main">
            <a:r>
              <a:t>https://learn.microsoft.com/en-us/windows-server/administration/windows-commands/netstat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Edge Network tool</a:t>
            </a:r>
          </a:p>
          <a:p xmlns:a="http://schemas.openxmlformats.org/drawingml/2006/main">
            <a:r>
              <a:t>https://learn.microsoft.com/en-us/microsoft-edge/devtools/network/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Performance Monitor</a:t>
            </a:r>
          </a:p>
          <a:p xmlns:a="http://schemas.openxmlformats.org/drawingml/2006/main">
            <a:r>
              <a:t>https://learn.microsoft.com/en-us/windows-server/administration/windows-commands/perfmon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troubleshooting decision aid, not a guarantee that every failure has one cause. Connectivity to a server IP is not equivalent to opening HTTPS by raw IP because hostname-based hosting and certificates matter. Validate the fix and document it. Use authorized systems and preserve the original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Microsoft: Device Manager</a:t>
            </a:r>
          </a:p>
          <a:p xmlns:a="http://schemas.openxmlformats.org/drawingml/2006/main">
            <a:r>
              <a:t>https://learn.microsoft.com/en-us/windows-hardware/drivers/install/using-device-manager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TCP/IP addressing</a:t>
            </a:r>
          </a:p>
          <a:p xmlns:a="http://schemas.openxmlformats.org/drawingml/2006/main">
            <a:r>
              <a:t>https://learn.microsoft.com/en-us/troubleshoot/windows-client/networking/tcpip-addressing-and-subnetting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ipconfig</a:t>
            </a:r>
          </a:p>
          <a:p xmlns:a="http://schemas.openxmlformats.org/drawingml/2006/main">
            <a:r>
              <a:t>https://learn.microsoft.com/en-us/windows-server/administration/windows-commands/ipconfig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tracert</a:t>
            </a:r>
          </a:p>
          <a:p xmlns:a="http://schemas.openxmlformats.org/drawingml/2006/main">
            <a:r>
              <a:t>https://learn.microsoft.com/en-us/windows-server/administration/windows-commands/tracert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TLS 1.3 / RFC 8446</a:t>
            </a:r>
          </a:p>
          <a:p xmlns:a="http://schemas.openxmlformats.org/drawingml/2006/main">
            <a:r>
              <a:t>https://www.rfc-editor.org/rfc/rfc8446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terms: LAN = local area network; WAN = wide area network; OS = operating system; TLS = Transport Layer Security; HTTP = Hypertext Transfer Protocol; HTTPS = HTTP secured with TLS; NAT = Network Address Translation; PAT = Port Address Translation; throughput = achieved transfer rate; latency = delay; listener = an endpoint waiting for connection requests. A service is background software, not necessarily a remote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IETF: TCP / RFC 9293</a:t>
            </a:r>
          </a:p>
          <a:p xmlns:a="http://schemas.openxmlformats.org/drawingml/2006/main">
            <a:r>
              <a:t>https://www.rfc-editor.org/rfc/rfc9293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ARP / RFC 826</a:t>
            </a:r>
          </a:p>
          <a:p xmlns:a="http://schemas.openxmlformats.org/drawingml/2006/main">
            <a:r>
              <a:t>https://www.rfc-editor.org/rfc/rfc826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DNS architecture</a:t>
            </a:r>
          </a:p>
          <a:p xmlns:a="http://schemas.openxmlformats.org/drawingml/2006/main">
            <a:r>
              <a:t>https://learn.microsoft.com/en-us/windows-server/networking/dns/dns-architecture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DHCP overview</a:t>
            </a:r>
          </a:p>
          <a:p xmlns:a="http://schemas.openxmlformats.org/drawingml/2006/main">
            <a:r>
              <a:t>https://learn.microsoft.com/en-us/windows-server/networking/technologies/dhcp/dhcp-top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tracert</a:t>
            </a:r>
          </a:p>
          <a:p xmlns:a="http://schemas.openxmlformats.org/drawingml/2006/main">
            <a:r>
              <a:t>https://learn.microsoft.com/en-us/windows-server/administration/windows-commands/tracert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MMC</a:t>
            </a:r>
          </a:p>
          <a:p xmlns:a="http://schemas.openxmlformats.org/drawingml/2006/main">
            <a:r>
              <a:t>https://learn.microsoft.com/en-us/windows-server/administration/windows-commands/mmc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1) Local port 51514. The server replies from its port 443 to the client endpoint, before considering any NAT translation. 2) IP TTL is reduced at routers; DNS TTL is a cache lifetime in seconds. 3) Resource Monitor → Network identifies process activity; Device Manager inspects the network adapter and driver. You can also correlate netstat PID with Task Manager. Great work if you explained why, not just the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IETF: TCP / RFC 9293</a:t>
            </a:r>
          </a:p>
          <a:p xmlns:a="http://schemas.openxmlformats.org/drawingml/2006/main">
            <a:r>
              <a:t>https://www.rfc-editor.org/rfc/rfc9293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tracert</a:t>
            </a:r>
          </a:p>
          <a:p xmlns:a="http://schemas.openxmlformats.org/drawingml/2006/main">
            <a:r>
              <a:t>https://learn.microsoft.com/en-us/windows-server/administration/windows-commands/tracert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DNS / RFC 1035</a:t>
            </a:r>
          </a:p>
          <a:p xmlns:a="http://schemas.openxmlformats.org/drawingml/2006/main">
            <a:r>
              <a:t>https://www.rfc-editor.org/rfc/rfc1035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Device Manager</a:t>
            </a:r>
          </a:p>
          <a:p xmlns:a="http://schemas.openxmlformats.org/drawingml/2006/main">
            <a:r>
              <a:t>https://learn.microsoft.com/en-us/windows-hardware/drivers/install/using-device-manager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Performance Monitor</a:t>
            </a:r>
          </a:p>
          <a:p xmlns:a="http://schemas.openxmlformats.org/drawingml/2006/main">
            <a:r>
              <a:t>https://learn.microsoft.com/en-us/windows-server/administration/windows-commands/perfmon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Reviewed September 29, 2026. Full links are included in this slide’s notes and sources.md. Main reference: official CompTIA A+ 220-1202 exam objectives. No prediction of exam content or guarantee of results. The interactive simulation is synthetic and cannot access Windows telemetry from a web page. The read-only lab supplies the real observation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references (reviewed 2026-09-29):</a:t>
            </a:r>
          </a:p>
          <a:p xmlns:a="http://schemas.openxmlformats.org/drawingml/2006/main">
            <a:r>
              <a:t>CompTIA A+ 220-1202 objectives</a:t>
            </a:r>
          </a:p>
          <a:p xmlns:a="http://schemas.openxmlformats.org/drawingml/2006/main">
            <a:r>
              <a:t>https://comptiacdn.azureedge.net/webcontent/docs/default-source/exam-objectives/comptia-a-220-1202-exam-objectives.pdf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Microsoft: System configuration tools</a:t>
            </a:r>
          </a:p>
          <a:p xmlns:a="http://schemas.openxmlformats.org/drawingml/2006/main">
            <a:r>
              <a:t>https://support.microsoft.com/en-us/windows/experience/system-configuration-tools-in-windows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IETF: TCP / RFC 9293</a:t>
            </a:r>
          </a:p>
          <a:p xmlns:a="http://schemas.openxmlformats.org/drawingml/2006/main">
            <a:r>
              <a:t>https://www.rfc-editor.org/rfc/rfc9293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b99a0966d4c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0a6f6eeffe41e9" /><Relationship Type="http://schemas.openxmlformats.org/officeDocument/2006/relationships/slideLayout" Target="/ppt/slideLayouts/slideLayout1.xml" Id="Rd4dbc2c43e3f41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dbc2c43e3f41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bab30c8614fea" /><Relationship Type="http://schemas.openxmlformats.org/officeDocument/2006/relationships/image" Target="/ppt/media/image.png" Id="Rd63b0674d78a4327" /><Relationship Type="http://schemas.openxmlformats.org/officeDocument/2006/relationships/notesSlide" Target="/ppt/notesSlides/notesSlide1.xml" Id="R49cd067b02a642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be89e23b24dd4" /><Relationship Type="http://schemas.openxmlformats.org/officeDocument/2006/relationships/notesSlide" Target="/ppt/notesSlides/notesSlide2.xml" Id="R9e32a5c4ea7442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2816591c74aba" /><Relationship Type="http://schemas.openxmlformats.org/officeDocument/2006/relationships/notesSlide" Target="/ppt/notesSlides/notesSlide3.xml" Id="R2780e52e818445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258cec2754794" /><Relationship Type="http://schemas.openxmlformats.org/officeDocument/2006/relationships/notesSlide" Target="/ppt/notesSlides/notesSlide4.xml" Id="R70ae13e765be4d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bb57b425041c4" /><Relationship Type="http://schemas.openxmlformats.org/officeDocument/2006/relationships/notesSlide" Target="/ppt/notesSlides/notesSlide5.xml" Id="R13c8cce01ce44b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05e992ed44ca7" /><Relationship Type="http://schemas.openxmlformats.org/officeDocument/2006/relationships/notesSlide" Target="/ppt/notesSlides/notesSlide6.xml" Id="R7fa3206079ac43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baa54e5ba4474" /><Relationship Type="http://schemas.openxmlformats.org/officeDocument/2006/relationships/notesSlide" Target="/ppt/notesSlides/notesSlide7.xml" Id="Ra8a218d32a0741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c8fc761eb472e" /><Relationship Type="http://schemas.openxmlformats.org/officeDocument/2006/relationships/notesSlide" Target="/ppt/notesSlides/notesSlide8.xml" Id="Rb4d36c8555e34a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17b36f037446b" /><Relationship Type="http://schemas.openxmlformats.org/officeDocument/2006/relationships/notesSlide" Target="/ppt/notesSlides/notesSlide9.xml" Id="Rfa2f99e6bdeb44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61464f41449c9" /><Relationship Type="http://schemas.openxmlformats.org/officeDocument/2006/relationships/notesSlide" Target="/ppt/notesSlides/notesSlide10.xml" Id="Rf84ea7933b994f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337c346c94ef9" /><Relationship Type="http://schemas.openxmlformats.org/officeDocument/2006/relationships/notesSlide" Target="/ppt/notesSlides/notesSlide11.xml" Id="Re3e777e9c71649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9e5a87ca847a0" /><Relationship Type="http://schemas.openxmlformats.org/officeDocument/2006/relationships/notesSlide" Target="/ppt/notesSlides/notesSlide12.xml" Id="R6375ab57eb5749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f6762e9a24a0a" /><Relationship Type="http://schemas.openxmlformats.org/officeDocument/2006/relationships/notesSlide" Target="/ppt/notesSlides/notesSlide13.xml" Id="R74582b38412244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086e70eaa43fc" /><Relationship Type="http://schemas.openxmlformats.org/officeDocument/2006/relationships/notesSlide" Target="/ppt/notesSlides/notesSlide14.xml" Id="Ra70d5a9bae4a4a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9a46fa9824f3e" /><Relationship Type="http://schemas.openxmlformats.org/officeDocument/2006/relationships/notesSlide" Target="/ppt/notesSlides/notesSlide15.xml" Id="R198af261439046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1da1faa374de5" /><Relationship Type="http://schemas.openxmlformats.org/officeDocument/2006/relationships/notesSlide" Target="/ppt/notesSlides/notesSlide16.xml" Id="R2d904ae4541846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f05b82ad147c8" /><Relationship Type="http://schemas.openxmlformats.org/officeDocument/2006/relationships/notesSlide" Target="/ppt/notesSlides/notesSlide17.xml" Id="Ref0a6bcfe93545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4c56cf5054410" /><Relationship Type="http://schemas.openxmlformats.org/officeDocument/2006/relationships/notesSlide" Target="/ppt/notesSlides/notesSlide18.xml" Id="Ra6ad83036c2e4f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04ff931194fc2" /><Relationship Type="http://schemas.openxmlformats.org/officeDocument/2006/relationships/notesSlide" Target="/ppt/notesSlides/notesSlide19.xml" Id="R8a945757d06147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b059a8610453a" /><Relationship Type="http://schemas.openxmlformats.org/officeDocument/2006/relationships/notesSlide" Target="/ppt/notesSlides/notesSlide20.xml" Id="R20eb783d5b2a4d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55fc5d3634ecc" /><Relationship Type="http://schemas.openxmlformats.org/officeDocument/2006/relationships/notesSlide" Target="/ppt/notesSlides/notesSlide21.xml" Id="R6a1d3133572d4b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297626118471b" /><Relationship Type="http://schemas.openxmlformats.org/officeDocument/2006/relationships/notesSlide" Target="/ppt/notesSlides/notesSlide22.xml" Id="R43e15d12eca845b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916d2a13b4838" /><Relationship Type="http://schemas.openxmlformats.org/officeDocument/2006/relationships/notesSlide" Target="/ppt/notesSlides/notesSlide23.xml" Id="Ra0555bd05e1a494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b1cc10e964a1b" /><Relationship Type="http://schemas.openxmlformats.org/officeDocument/2006/relationships/notesSlide" Target="/ppt/notesSlides/notesSlide24.xml" Id="Re6eedb92deed443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1f2985ec04111" /><Relationship Type="http://schemas.openxmlformats.org/officeDocument/2006/relationships/notesSlide" Target="/ppt/notesSlides/notesSlide25.xml" Id="Rd382107fdf004ea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a573495944a41" /><Relationship Type="http://schemas.openxmlformats.org/officeDocument/2006/relationships/notesSlide" Target="/ppt/notesSlides/notesSlide26.xml" Id="R5868f90f91804ee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764b4370d45d7" /><Relationship Type="http://schemas.openxmlformats.org/officeDocument/2006/relationships/notesSlide" Target="/ppt/notesSlides/notesSlide27.xml" Id="R1405848270a743f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ffcc0a6e34070" /><Relationship Type="http://schemas.openxmlformats.org/officeDocument/2006/relationships/notesSlide" Target="/ppt/notesSlides/notesSlide28.xml" Id="Re05b8fb47b7a46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b0674d78a4327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4262E-EE7F-4649-BD8E-84A272EF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85750"/>
            <a:ext cx="11525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091727"/>
          </a:solidFill>
          <a:ln xmlns:a="http://schemas.openxmlformats.org/drawingml/2006/main" w="9525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A027-F136-42A2-AC67-D35214A7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WINDOWS NETWORKING • CORE 2 STUDY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85706-4085-4B90-9553-325A7B0E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77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From a click to a page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FA60A-ED00-402D-814F-B6D4A47D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Follow the packet. Find the setting. Prove the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FA0CB-720C-4D58-B1E9-4804CEF4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43575"/>
            <a:ext cx="11506200" cy="77152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91727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FFA65-7EB8-44BE-995A-31119B8D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1502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Independent study guide • Windows 11 • Reviewed September 29, 2026</a:t>
            </a:r>
          </a:p>
        </p:txBody>
      </p:sp>
    </p:spTree>
    <p:extLst>
      <p:ext uri="{BB962C8B-B14F-4D97-AF65-F5344CB8AC3E}">
        <p14:creationId xmlns:p14="http://schemas.microsoft.com/office/powerpoint/2010/main" val="1516144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22BE1-1B97-47E4-A0FB-A26105E3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01 / CHRONOLOGICAL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33FFD-958B-415E-8B5A-0D81F1CE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The complete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93B0A-5BDB-4D62-BE5A-E26B07E7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26289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11225-19EE-45FD-9919-4BA6257C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  Open URL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84ED6-194C-4DB3-A8E1-7FB4853F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Browser + caches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2A6EF-1827-4E33-9965-325B8022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09725"/>
            <a:ext cx="26289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0AF1A-EF86-4AEF-B48B-093132EF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335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2  Find 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A7621-70F8-4D9F-955E-6159A2BF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DNS, if needed</a:t>
            </a:r>
          </a:p>
        </p:txBody>
      </p:sp>
      <p:cxnSp>
        <p:nvCxnSpPr>
          <p:cNvPr id="4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86100" y="2286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10921-F6F3-4BD6-9533-55F3ADD7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09725"/>
            <a:ext cx="26289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0F601-A28C-4987-A2E4-98669795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3  Route / ARP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72D1D-2A73-4C77-9B4A-569AC046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For outgoing packets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81700" y="2286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ED4BF-E332-4F20-A3AB-0F824FFC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09725"/>
            <a:ext cx="26289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DD463-A0A3-4121-AA92-D95D3F34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335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4  Open TCP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B7F18-846A-4FF8-9111-54EDE2F8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SYN → SYN/ACK → ACK</a:t>
            </a:r>
          </a:p>
        </p:txBody>
      </p: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77300" y="2286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10C13-5887-46AC-9BD2-929DBE71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26289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531E2-6EE9-412D-83E7-2A49FF5A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5  Secure TLS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CFBEB-C0BD-4637-8435-62614345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Certificate + keys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323C1-18B1-4787-8AF9-5CA14D46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62350"/>
            <a:ext cx="26289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D7B81-290E-4C92-8491-8A25946A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86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6  Request HTTP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27964-C70F-4C14-96D3-AE838676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67175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Inside TLS</a:t>
            </a:r>
          </a:p>
        </p:txBody>
      </p:sp>
      <p:cxnSp>
        <p:nvCxnSpPr>
          <p:cNvPr id="60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086100" y="42386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E612D0-5071-4964-811A-0E2541B2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62350"/>
            <a:ext cx="26289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E1478-D120-444D-A8AA-CBC91157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86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7  Receive files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F613E-89D0-42BF-9991-D7D52083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67175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HTML, CSS, JS…</a:t>
            </a:r>
          </a:p>
        </p:txBody>
      </p:sp>
      <p:cxnSp>
        <p:nvCxnSpPr>
          <p:cNvPr id="64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981700" y="42386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38B6FB-C050-42AC-B690-6D4748B9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26289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344E3E-4891-4C8D-A661-98B8A6CA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86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8  Render page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BCC38A-7A19-4EF6-B9E0-0361895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67175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Reuse or close</a:t>
            </a:r>
          </a:p>
        </p:txBody>
      </p:sp>
      <p:cxnSp>
        <p:nvCxnSpPr>
          <p:cNvPr id="68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877300" y="42386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E026BD-2A0A-4FD5-A587-46720825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482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Read left → right, then continue on the next row. Downloads and rendering can overlap.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5790F5-F692-473F-B444-607FE84F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6B5665-4A4E-497E-901A-CDBD2A36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Prerequisite: the adapter and IP configuration already work. DHCP is not repeated for every page.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280EB2-5CDB-402E-83A2-B6BE9A88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02 / 28</a:t>
            </a:r>
          </a:p>
        </p:txBody>
      </p:sp>
    </p:spTree>
    <p:extLst>
      <p:ext uri="{BB962C8B-B14F-4D97-AF65-F5344CB8AC3E}">
        <p14:creationId xmlns:p14="http://schemas.microsoft.com/office/powerpoint/2010/main" val="1231684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3BFA0-5BCA-4461-9D07-7645CB70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02 / FICTIONAL LAB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F526C-4395-4E30-BFA0-006F4BA2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Meet the addresses in our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7BAA9-0427-419A-96A5-21054B1C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88301-0679-4899-9B2B-6ACFE5DD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Laptop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2A1FE-84B9-4F4E-9407-BF6BAF35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2590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192.168.50.25 /24</a:t>
            </a:r>
          </a:p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Client port 51514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78F7F-9DF0-403E-BB71-702BF6C8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8610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3F996-2FE1-4391-B71B-C70F471B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209925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Router /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F0BC1-43DC-4999-A695-3268EB61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590925"/>
            <a:ext cx="2590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192.168.50.1</a:t>
            </a:r>
          </a:p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Connects networks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BF4E2-2440-4994-AA1F-F73A15FE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BA02B-B063-4E94-82B9-236BD45E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09925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Web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D1E53-6079-412B-897C-53CD7FE1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90925"/>
            <a:ext cx="2590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203.0.113.80 : 443</a:t>
            </a:r>
          </a:p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HTTPS listener</a:t>
            </a:r>
          </a:p>
        </p:txBody>
      </p:sp>
      <p:cxnSp>
        <p:nvCxnSpPr>
          <p:cNvPr id="33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14700" y="380047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15225" y="380047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0D006-5399-4167-B4E0-5A7C91B2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66850"/>
            <a:ext cx="5238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A29B3-3D1E-4C8A-A132-D7A26D16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90675"/>
            <a:ext cx="497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Local DNS resolver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BBEA0-DBA5-40C1-852B-2319B621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71675"/>
            <a:ext cx="4972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192.168.50.53</a:t>
            </a:r>
          </a:p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portal.example → 203.0.113.80</a:t>
            </a:r>
          </a:p>
        </p:txBody>
      </p:sp>
      <p:cxnSp>
        <p:nvCxnSpPr>
          <p:cNvPr id="38" name=""/>
          <p:cNvCxnSpPr>
            <a:stCxn xmlns:a="http://schemas.openxmlformats.org/drawingml/2006/main" id="3" idx="0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885950" y="2105025"/>
            <a:ext cx="49530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DA4FF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9190F-D09D-4AEA-B7F4-BFAD03D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815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DNS is a local lookup branch. Web traffic goes through the gateway, not through DNS.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1D123-41CD-482D-8170-A3493A7C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2498B-C6EF-4CC3-A453-F35129E6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These are teaching values, not addresses to enter into your PC. Documentation IPs are not live targets.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C8D70-9A68-466C-AFFE-5A3F43F9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03 / 28</a:t>
            </a:r>
          </a:p>
        </p:txBody>
      </p:sp>
    </p:spTree>
    <p:extLst>
      <p:ext uri="{BB962C8B-B14F-4D97-AF65-F5344CB8AC3E}">
        <p14:creationId xmlns:p14="http://schemas.microsoft.com/office/powerpoint/2010/main" val="1170706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FAE0E-6353-4A63-A17E-5CAF956D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03 / ADDRESS • MASK • GATEWAY • DNS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C612F-314D-424F-AE3F-AFDFFDA8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Read the four essential IP settings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8BC88-C7A8-49BB-8270-1151BADF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997F8-31D5-4709-88E3-6DFDF4AC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IP address = this 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F66B9-A4DE-46A9-AC8D-3C4388E1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192.168.50.25 identifies the laptop’s network interface. An IP address is not the same thing as a MAC address.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2FC15-2C05-437A-9851-7D37927C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FE73F-D9EC-401F-A5F6-E90B31AE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Mask = the local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5F2E6-EE32-4508-8B4A-CB865F04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255.255.255.0 (/24) makes 192.168.50.x local in this example. The mask helps separate network and host bits.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2EADF-255E-4916-8B8B-2876E2E3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FBECD-D8F7-4FC7-86D5-110FFE0A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Gateway = the way 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B6C8F-5E8B-451E-B26A-E8110D04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192.168.50.1 is the next hop for destinations without a more specific route. Local traffic need not cross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0DDEA-1E46-4AA1-A405-C3931D04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EA60E-464F-497C-8FC2-D981B078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DNS = the name 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C584B-3A49-45C6-9336-99CE938A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192.168.50.53 answers name queries. DNS does not carry every web page after it finds the server address.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DB988-2C64-4B3E-8423-995708B0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0AACC-EE1B-43DC-B68D-3E4F3019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Check with ipconfig /all. A correct IP address alone does not prove DNS or the gateway is correct.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00D63-354F-409A-A2C4-8787AB87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04 / 28</a:t>
            </a:r>
          </a:p>
        </p:txBody>
      </p:sp>
    </p:spTree>
    <p:extLst>
      <p:ext uri="{BB962C8B-B14F-4D97-AF65-F5344CB8AC3E}">
        <p14:creationId xmlns:p14="http://schemas.microsoft.com/office/powerpoint/2010/main" val="2129891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5F2AD-1D37-4756-BEE2-D9B561C0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04 / WINDOWS 11 • LOOK BEFORE CHANGING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A74C4-DD8F-4C33-BE0C-A2A50294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Find and inspect your Windows settings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82159-4EB0-440D-A3CF-7AAC0966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18732-A99F-4219-9FD2-73D0D45C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  Open Settings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2EDE1-58B2-416F-8D07-E40DF71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Win + I → Network &amp; internet → Ethernet, or Wi-Fi → the connected network’s properties.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0A850-BF82-49B6-A754-9CF7B11F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5416F-A2B1-4053-A3E2-A30E4C31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2  Inspect assignment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965F2-171B-412E-AD23-CFD0B6B6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Find IP assignment and DNS server assignment. Automatic (DHCP) obtains configuration; Manual uses values you supply.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8BBE7-BEC7-457E-8175-196FFA53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303A0-6FF1-4ED8-AB27-DB5B5860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3  Open the classic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BB1FA-13F3-455F-AEDD-BCD2785A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Win + R → ncpa.cpl → adapter Properties → Internet Protocol Version 4 (TCP/IPv4) → Properties.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733FB-E646-4704-AF18-BC95E8CA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193CD-402C-44C4-A797-8E8C2C56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4  Compare the 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4AF45-E0CF-48FB-921F-BB7F62D9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Run ipconfig /all. Match the active adapter, address, mask, gateway, DNS servers and DHCP status.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44511-35E6-4712-97E5-099C8A3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AC4EF-8BB7-4380-980F-E6B44F84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“Public” or “Private” network profile controls trust/firewall behavior; it does not mean public or private IP space.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1046B-E7E9-4030-89CD-72346548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05 / 28</a:t>
            </a:r>
          </a:p>
        </p:txBody>
      </p:sp>
    </p:spTree>
    <p:extLst>
      <p:ext uri="{BB962C8B-B14F-4D97-AF65-F5344CB8AC3E}">
        <p14:creationId xmlns:p14="http://schemas.microsoft.com/office/powerpoint/2010/main" val="1275311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AF025-5697-4173-8926-1FF22E0F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05 / DEVICE 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501AA-E93A-49DF-83B8-1E16CDEC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Before packets: the adapter must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C30C9-A1FF-486B-B603-AEDAAA99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E9EFF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A6175-8C8B-4748-9ED5-2F222DA3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906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Device Manager → Network adapters → adapter Properties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586C3-D502-4630-B1AA-645127DA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General   Device status: working normally (example)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E340D-5754-4BB9-9ABA-B1B3D1ED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Driver   Provider • version • date • update / roll 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B7E53-BC76-4A9C-AF63-30E66E18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Details   Hardware IDs and other device properties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2745E-A328-456E-80FD-8C910C14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Power Management   May appear depending on adapter and driver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AE578-491B-4B3F-8DCF-180A4C11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5524500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51E1C-E90A-4398-8102-A7DF8D48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Open 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02295-6AFF-4344-AC56-F0EFD743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5143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Win + R → devmgmt.msc</a:t>
            </a:r>
          </a:p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Or Win + X → Device Manager.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D7013-7A12-4FF3-9E64-2F7C8E3D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5524500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96D85-AA3F-4639-A159-AF928D46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What it proves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B550F-D576-45E9-BA0F-2E0588F3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5143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Windows detects the NIC and its driver. It does not prove the Internet, DNS or the website works.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1C04D-8A07-4CCC-9311-8597E19E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057B2-25FD-4E3B-81B9-395760B6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NIC = network interface card/controller. A driver lets Windows communicate with the hardware.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9A215-5AE7-4AE0-BCA5-AD652794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06 / 28</a:t>
            </a:r>
          </a:p>
        </p:txBody>
      </p:sp>
    </p:spTree>
    <p:extLst>
      <p:ext uri="{BB962C8B-B14F-4D97-AF65-F5344CB8AC3E}">
        <p14:creationId xmlns:p14="http://schemas.microsoft.com/office/powerpoint/2010/main" val="1962786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C2A83C-5F1A-46F1-9643-7E095C94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06 / DORA • A COMMON FIRST-TIME IPv4 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45A13-3CA4-4612-8257-23F6859C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DHCP: get configuration before browsing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DFBC5-70A3-4AA2-A7CE-67409FD9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F8492-72E1-41C5-A420-CD0FE326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B44B7-F879-4E63-ADCF-A3362B04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Client 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671C2-4598-468F-9178-E7076B96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F19D0-5564-492D-89CC-92BD92D0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OFFER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59D16-4494-4000-97CD-3DC79E54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Server offers</a:t>
            </a:r>
          </a:p>
        </p:txBody>
      </p: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861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11B4F-BB07-40FC-8636-C5FEEAC1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9C097-0CDC-4A62-B700-BD36DFBD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FB238-36B4-460E-BED6-637828DE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Client requests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817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C8F92-A196-4C48-A48D-15804E73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365D3-71A6-45D0-AEF3-C51AA77C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4C1F4-302B-4587-A18A-7C2CC8B8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Server confirms</a:t>
            </a:r>
          </a:p>
        </p:txBody>
      </p: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773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922E7-C926-4539-87E2-A212C347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5524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452BE-DD16-4E97-81B1-8C13F9BE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What it supplies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948C2-947D-49C1-99D0-73BD3687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DHCP = Dynamic Host Configuration Protocol. It can provide an IP lease, mask, gateway and DNS settings.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DA7BD-3900-4C07-91E4-4B3EB1CF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5524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8C191-7C94-40C8-807A-8E939B62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When it happens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59A2A-6DD4-49A0-8EB0-89F7FA8A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At initial configuration and lease events. Renewals often skip the full DORA sequence; every page does not start it again.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08DD8-915D-462A-9CCC-970A20E1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8A71AE-C809-47AC-859A-66E5C094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An automatic 169.254.x.x IPv4 address can indicate no DHCP lease. Check DHCP and link; don’t assume hardware failure.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0BED75-EAD5-4EDC-BDFC-00B8F80E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07 / 28</a:t>
            </a:r>
          </a:p>
        </p:txBody>
      </p:sp>
    </p:spTree>
    <p:extLst>
      <p:ext uri="{BB962C8B-B14F-4D97-AF65-F5344CB8AC3E}">
        <p14:creationId xmlns:p14="http://schemas.microsoft.com/office/powerpoint/2010/main" val="7990367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FFE7BA-0F21-4AE9-8CF4-424BE79B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07 / BROWSER → CACHE → DNS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D5999-CDA7-4E2B-8286-D12A0795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You press Enter: name before destination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E6BB6-B9BD-4E5C-9F81-4CCCB0DA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0D631-DB90-44EF-8ECC-83C89CBA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URL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15E7F-902B-41D3-AE95-517F3C2F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portal.example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5E1DA-0FAC-44ED-8522-FA2DB333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34BE4-F02F-4D4E-BABA-4FBCC7FA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CACHE?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7023A-9CD1-43D3-ABC6-7DB08E1A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Reuse if valid</a:t>
            </a:r>
          </a:p>
        </p:txBody>
      </p: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861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E2327-B75E-40CE-BCD8-7F1E04E6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3E5EA-7FD1-41A6-9B0C-5B1B06DA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DNS 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821F4-A6D2-4B4D-B600-9D856741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Ask resolver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817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10441-0E02-4D58-A2FB-6DF5518E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A1D7E-15B2-4F83-8D2F-AC0694D3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IP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B2791-65BC-4D63-B48B-B90A05F6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203.0.113.80</a:t>
            </a:r>
          </a:p>
        </p:txBody>
      </p: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773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C28DB-A87F-4D89-AFFD-F4A5B31D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5524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5E397-0531-427F-94BF-A99CEDEC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Who does what?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F3EC0-8EC0-4EDA-98A4-086F0A86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The browser starts the request. Cached content or a cached DNS answer can skip network work. A DNS resolver finds addresses for names.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77BAD-CA35-4599-A994-B7DA239D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5524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A4CD6-55CA-4059-940C-C658746F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What to observe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44956-D824-4F62-B08A-CFC34E6A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nslookup example.com checks a DNS lookup. ipconfig /displaydns shows the Windows resolver cache, not every browser cache.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B3608-7015-4D32-B379-07A9183C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37F452-DEA7-4335-A398-63D0B71A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A record = IPv4 address. AAAA record = IPv6 address. DNS is a lookup service, not a web proxy.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F98C02-00F9-4AD6-A82A-63C9B7AC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08 / 28</a:t>
            </a:r>
          </a:p>
        </p:txBody>
      </p:sp>
    </p:spTree>
    <p:extLst>
      <p:ext uri="{BB962C8B-B14F-4D97-AF65-F5344CB8AC3E}">
        <p14:creationId xmlns:p14="http://schemas.microsoft.com/office/powerpoint/2010/main" val="5111760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8660E-9141-4DDD-8794-CA54456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08 / ROUTING + ARP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B9E35-832A-436B-AE32-B806B82A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Which direction? Route first, then local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A4E6D-1769-412E-8319-03907F3C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F218D-C592-4796-AFEC-D654652E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Local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0BB3D-214F-4F9B-A844-9146C194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192.168.50.53 matches our /24. Send directly to that device’s MAC address on this 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DDAE7-AD0A-4842-94A4-A2282429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1E28A-3C0F-4878-B5A0-0997BCA0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Remote destination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6F9E7-F8A7-4069-A622-F907B009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203.0.113.80 is outside our /24. Send the Ethernet frame to gateway 192.168.50.1’s MAC address.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1EE0A-C832-4466-B484-EEF32FEF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BF788-3A59-4CD4-84BB-CD4723B1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ARP fills the MAC blank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4B656-E62B-4052-83F8-0261AA1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Address Resolution Protocol asks: “Who has this local IPv4 address?” Windows caches replies. Inspect with arp -a.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A8718-F545-4225-B188-2A9A46E8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27898-7BDD-40B3-96E9-376E9169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Two different addresses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8ADC4-BC42-4094-AF1D-9BBA3A48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IP destination stays the web server (without NAT changes). Ethernet destination is the current local next hop.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9A2B7-5CB0-494D-B632-91EBA9A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81FD0-1811-49B8-AFBA-A1D8FE76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ARP does not ask the Internet for the remote web server’s MAC address. IPv6 uses Neighbor Discovery, not ARP.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02B42-3CFB-4A57-AA9A-966E5BA4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09 / 28</a:t>
            </a:r>
          </a:p>
        </p:txBody>
      </p:sp>
    </p:spTree>
    <p:extLst>
      <p:ext uri="{BB962C8B-B14F-4D97-AF65-F5344CB8AC3E}">
        <p14:creationId xmlns:p14="http://schemas.microsoft.com/office/powerpoint/2010/main" val="1344490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4A32C-4637-45BD-9950-F84FFAB5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09 / ENCAPSULATION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DB661-4B73-44BC-971B-0413F91F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One message travels inside several wrappers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5708D-AAEE-4D85-8BCE-31012D79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112776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FDFB2-9729-4983-82CC-B992CA78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Application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E177D-AE03-4AE0-BFC3-2377C983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383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HTTP request inside TLS protection: the browser’s message.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9E893-0C3F-460C-8A4A-674A0CD9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0858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965BB-E690-4D05-B74B-F4491068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DA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DA4FF"/>
                </a:solidFill>
                <a:latin typeface="Helvetica Neue"/>
                <a:ea typeface="Helvetica Neue"/>
                <a:cs typeface="Helvetica Neue"/>
              </a:rPr>
              <a:t>TCP segment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E097F-7AD3-4A0A-A8CF-BEA748C0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76525"/>
            <a:ext cx="702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Source/destination ports, sequence numbers and acknowledgments support an ordered, reliable byte stream.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43DD8-6852-42A4-B4B6-B9594EF7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104394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1F787-9F9C-47AE-BA2F-35C83055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242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IP packet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DE627-56A7-4FF1-BDF0-A9F77161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681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Source/destination IP addresses and a TTL help routers forward the packet.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E7BC1-6802-49FC-9AC8-302E9A9A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100203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104DB-311E-4F12-AC9F-FD6CAE43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Ethernet frame →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14806-0121-433F-B9E9-B8304CF6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52975"/>
            <a:ext cx="661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MAC addresses deliver across the local link. The NIC sends bits as physical signals.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343BC-6F43-40FE-B78D-4BA99E2F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0FA7D-2B22-4AD1-8E97-3CED9E5F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At the receiver, layers unwrap the data. An IP packet, TCP segment and Ethernet frame are related, but not synonyms.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CA184-321E-4C0E-A308-14EFAD23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16662642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B4CC3A-A957-45CD-B2A4-D27513CC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10 / PACKET HOP BUDGET VS CACHE LIFETIME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C6ABD-5F27-44A6-BDDC-ED16D6CF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TTL: two names, two very different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098B9-F9B6-4E7B-BF16-D2ABF9AC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95425"/>
            <a:ext cx="295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2EFA1-09F5-4675-992B-20C995EE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19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Packet TTL 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ECA57-7541-4306-A2EC-71C97E57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Illustrative hop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0CEE1-8542-4978-BA70-F4420EB9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95425"/>
            <a:ext cx="295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DB819-9919-4DA6-BFF7-41EF5B0E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19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Router → 63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B4FAD-6162-44CA-910C-3C0B5971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002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Illustrative hop budget</a:t>
            </a:r>
          </a:p>
        </p:txBody>
      </p:sp>
      <p:cxnSp>
        <p:nvCxnSpPr>
          <p:cNvPr id="31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95750" y="20193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D02C1-0336-469F-8EA7-2CB717BD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95425"/>
            <a:ext cx="295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0E198-8CAB-46B9-8697-D722F9B3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19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Router → 62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437BC-42C1-4A9C-9C6D-DFEA04C7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Illustrative hop budget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24750" y="20193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8FE11-61ED-4FCA-91DA-E2503737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43225"/>
            <a:ext cx="5524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6869A-981A-4C16-A878-3F04D72F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IP TTL = hop 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D9A73-2C09-4822-A527-1976487A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51435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Time To Live limits packet circulation. A router reduces it; a packet that reaches zero is discarded. IPv6 calls this Hop Limit.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BC445-7E2D-4219-A5AF-A68ACEE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43225"/>
            <a:ext cx="5524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97D4C-E12B-4242-840C-7CD06CEB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DNS TTL = cache seconds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B08F1-4FEC-4612-887F-771DC817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51435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A DNS record’s TTL tells a cache how long it may reuse that record. It does not count routers.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2A267-0D57-477D-836F-F787D159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0CF0C-C248-4775-B6E1-A989807C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tracert uses increasing TTL values. A * can mean a missing/filtered reply—not automatically a broken router.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8096E-C3C3-4164-9893-FE5668DD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9184531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FAE95-A313-41F5-9A5E-68B04EDB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11 / LOCAL ENDPOINT ↔ REMOTE ENDPOINT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F8674-309B-431B-A220-83836C82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Ports are doors; listening means waiting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EF0C1-724A-4799-82F7-EF92F1C4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"/>
            <a:ext cx="4000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8B163-5B53-4DF1-940D-8A9851AC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716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65714-99FC-4D3D-A43C-69DD190C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3733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192.168.50.25 : 51514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50F30-4364-4669-8669-941CAAF3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47800"/>
            <a:ext cx="4000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B5E43-7FD2-4204-B488-A434E469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7162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130A4-3888-42C6-B694-02DEE5F0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52625"/>
            <a:ext cx="3733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203.0.113.80 : 443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50587-267D-4E8E-9964-08C6EBA7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4305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request →</a:t>
            </a:r>
          </a:p>
          <a:p xmlns:a="http://schemas.openxmlformats.org/drawingml/2006/main">
            <a:pPr>
              <a:defRPr sz="2025" b="1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← reply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37D97-F878-4151-A830-62F8E921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524500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0CA0E-4B6C-4F37-BC39-CB8DFA9C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Server listener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DB671-47B8-45C6-83E0-B0FFC312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3275"/>
            <a:ext cx="5143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203.0.113.80:443</a:t>
            </a:r>
          </a:p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The server has a TCP socket waiting for HTTPS connection attempts.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D7BE4-7C24-4539-9B0B-6FD93F73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5524500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FC2D2-04BF-4CA4-8A21-E3B11D49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670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Client connection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4A429-AD65-4A91-AAFA-0F004578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43275"/>
            <a:ext cx="5143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192.168.50.25:51514</a:t>
            </a:r>
          </a:p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Windows selected a temporary source port. The browser connects outward to server port 443.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B169B-D2DC-454A-829E-557B95E6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5524500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B7695-1EBF-4B47-BC08-8DC17E24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Reply direction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48DDD-3593-42B3-B37C-E45FEC2B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5143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Server 443 → client 51514. The client does not need to run a web server listening on port 443.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8A9D9-ADC0-4271-9A0D-08E0D021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57675"/>
            <a:ext cx="5524500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F67F5-B67D-4FB4-8C3E-87B8D88C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Endpoint + socket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D1B9A-7941-4521-B3C0-E4DB72E8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86325"/>
            <a:ext cx="5143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An endpoint pairs an IP address with a port. A TCP connection is identified by both endpoints, within TCP.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702794-9AEC-483F-9D07-1281334D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DD359-946A-446E-BC77-DD60831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LISTENING is not ESTABLISHED. A listening service may still be unreachable through routing or firewall rules.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8DC63-5884-4B46-A0D6-4172DD98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3987088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1673D-57D3-49C2-B3B1-40299B86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12 / THREE-WAY HANDSHAKE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084B3-692C-44E9-A23F-6D441947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TCP opens the conversation in three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29DFE-7E77-46CB-A95F-DC3B2257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CLIENT : 51514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DE944-8A3F-487B-A544-83F328CE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DA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DA4FF"/>
                </a:solidFill>
                <a:latin typeface="Helvetica Neue"/>
                <a:ea typeface="Helvetica Neue"/>
                <a:cs typeface="Helvetica Neue"/>
              </a:rPr>
              <a:t>SERVER : 443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2E814-A141-4828-AE5F-0D8FF596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1277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16E77-A6D3-4C84-8D20-4226DF10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1  SYN 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E3581-90A9-40A8-8A45-E7044416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Client asks to establish a connection and supplies an initial sequence number.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EDB25-67E2-4098-A624-2F4AD5BC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11277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4DC8F-4798-466D-84BE-3FFF60CB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2  ← SYN + 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23961-A344-407D-BC1D-B17216E1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147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Server acknowledges the client’s number and supplies its 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AA260-98D8-4B8E-B750-8E2C3DDA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11277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1451D-800E-4F0F-A0A2-1C9787FB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3  ACK 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F3093-64E7-4BA2-85BB-632C0486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Client acknowledges the server’s number. TCP can now carry the protected web conversation.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0FA1B-19D8-457E-A186-77B6B398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A0655-27CD-4020-A4AE-C86F5ED7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SYN = synchronize. ACK = acknowledgment. An established TCP connection does not prove TLS or the page succeeded.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4F510-1A2C-49A6-8CDB-1FCA9E88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5520445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610BA1-C3F6-4624-A8B2-EF689527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13 / TCP → TLS → HTTP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F1460-150D-40FB-AAAC-4FD64A86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TLS locks the conversation; HTTP asks for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FA31C-32F5-4A48-966B-4519854B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5CDED-8DBC-4A13-AB24-B14398F6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TCP 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26D95-9F45-454A-B437-25B3103E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Transport open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23753-3941-4996-93C7-1E8825D9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848B3-A58E-4030-BF60-C49F0ECA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TLS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9990D-673B-4CE2-A394-0BF8E715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Secure session</a:t>
            </a:r>
          </a:p>
        </p:txBody>
      </p: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861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2DFF8-1956-42A4-9DAC-3F77B803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6B810-5B7C-4DFB-BA38-0B9E9BC0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HTTP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186E7-6BBD-4860-97C6-920AEFC9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Request page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817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01DBA-E496-4896-B661-BDC1D81F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4F69E-1343-45A3-AA08-0A006428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A1E08-13EC-480E-8813-BB16B192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Receive content</a:t>
            </a:r>
          </a:p>
        </p:txBody>
      </p: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773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32403-9FFF-4D93-8B67-27999C02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5524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AA0B7-8F76-4CDB-8C4B-6412860B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TLS: protected transport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DA0D7-2D02-4FA5-88DC-CF28A1E4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The client checks the server certificate and negotiates session keys. TLS protects data in transit; TCP itself does not encrypt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00BB7-948C-4A88-983F-3355BA58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5524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25D74-39A6-4E18-8D62-3337BDAC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HTTP: meaning of the message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272B8-C877-4E6C-918C-8DBD823A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The browser requests a resource. The server returns a status, headers and usually a body. HTTPS means HTTP protected by TLS.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BD620-0CAA-4DE3-9DED-1331BEB9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B6FE3-5632-4E87-81F1-243A2957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A wrong clock or untrusted/expired certificate can break HTTPS even when the TCP connection is working.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5BD44-B5DB-4B1D-8E2E-138901FB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14 / 28</a:t>
            </a:r>
          </a:p>
        </p:txBody>
      </p:sp>
    </p:spTree>
    <p:extLst>
      <p:ext uri="{BB962C8B-B14F-4D97-AF65-F5344CB8AC3E}">
        <p14:creationId xmlns:p14="http://schemas.microsoft.com/office/powerpoint/2010/main" val="11266160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48D8F0-8072-445B-A428-AD76FA8B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14 / DOWNLOAD → PARSE → RENDER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906E6-EDF9-4746-BCE8-BCB322BD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The page appears while more work continues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27837-71BC-4E02-BA07-636C55F4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D629C-2F1D-41C3-814F-F06FF215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BB356-E584-473A-A026-E10EBF6E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Page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9A425-6DF2-442B-B53A-18F3F79E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0A907-A2E3-4524-BF2E-122E5F13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MORE 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3D6C2-9F20-456A-B6B5-C039C6E8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CSS, JS, images</a:t>
            </a:r>
          </a:p>
        </p:txBody>
      </p: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861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522DE-5C00-4A99-83E9-1AB15EB2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9929A-54E4-4269-A16D-647E46C8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LAYOUT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270AD-DFAC-4F2C-BA91-57A46EF0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Place elements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817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77D2A-7FF4-4488-8BC7-3223605C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7913E-36C7-4990-8601-3DEB8EB3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PAINT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B8DA9-9B2B-40D0-8B7F-EA032FA8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Show pixels</a:t>
            </a:r>
          </a:p>
        </p:txBody>
      </p: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773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D137F-EE2B-4037-B8CF-1596B1A8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5524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9C57D-26CD-4FBB-B172-73C0A344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One page, many requests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A0D14-439E-4F5D-AF8B-065D1D9C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HTML can cause requests to several hosts. Downloading, script execution and rendering can overlap. Existing connections may be reused.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9BF8B-3C4C-46E5-868A-DFAB01E6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5524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09658-1C46-453B-9EDF-5689A1BB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Know the alternate route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37D15-89B1-4125-9053-934CDA07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HTTP/3 uses QUIC over UDP, commonly port 443. It does not use the TCP three-way handshake shown in our baseline.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BC6F9-2A9D-4F8E-968A-0A92DF79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9057A-86CF-4BE0-B377-7E9290C2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A loaded page can keep background connections open. Closing a tab does not guarantee every browser connection closes at once.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53F78C-24B7-4569-9A87-B98A0282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280634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4CC63-73C0-4597-B049-94EB79C8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15 / NETSTAT • SCHEMATIC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A9614-097C-4FB8-BD60-BFDF48C0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Read a connection without guessing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3F6BD-7E7F-4528-99E5-660E107F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E9EFF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27586-67F5-400A-8DAF-2D2AB701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906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Command Prompt &gt; netstat -ano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AC0A5-511D-42BE-A14D-73D2C41D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4283F"/>
                </a:solidFill>
                <a:latin typeface="Menlo"/>
                <a:ea typeface="Menlo"/>
                <a:cs typeface="Menlo"/>
              </a:rPr>
              <a:t>Proto  Local address           Foreign address        State        PID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21887-6052-414D-9D40-542CF755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4283F"/>
                </a:solidFill>
                <a:latin typeface="Menlo"/>
                <a:ea typeface="Menlo"/>
                <a:cs typeface="Menlo"/>
              </a:rPr>
              <a:t>TCP    0.0.0.0:135             0.0.0.0:0              LISTENING    1040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E013E-4C4E-4514-AFD6-02DA54A6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4283F"/>
                </a:solidFill>
                <a:latin typeface="Menlo"/>
                <a:ea typeface="Menlo"/>
                <a:cs typeface="Menlo"/>
              </a:rPr>
              <a:t>TCP    192.168.50.25:51514      203.0.113.80:443       ESTABLISHED  6840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9F980-290E-4B3E-936B-F1B09E41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4283F"/>
                </a:solidFill>
                <a:latin typeface="Menlo"/>
                <a:ea typeface="Menlo"/>
                <a:cs typeface="Menlo"/>
              </a:rPr>
              <a:t>UDP    0.0.0.0:5353            *:*                                 4720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59B8D-FF60-45ED-907D-02D6F02A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5524500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DB59F-F2A1-433D-A176-D76CB1AC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Read the columns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659DB-9FDC-491F-BB4F-E58A2C6D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5143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Local = this PC’s endpoint. Foreign = its peer. PID = process identifier; match it in Task Manager → Details.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AF0D9-07CC-4097-9AE3-DAAE5EA0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5524500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2EDC3-D67F-4BC9-B51F-2DC55675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Flags to remember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BC9A5-7A53-4E5B-AC91-0657EFFB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5143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-a: connections and listening ports</a:t>
            </a:r>
          </a:p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-n: numeric addresses/ports</a:t>
            </a:r>
          </a:p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-o: owning process 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D40FC-AE31-42D9-84FA-8B7AC28C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B6982-54C5-40DF-A791-C1F3E2CC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0.0.0.0 in a local listener means all local IPv4 interfaces. In its foreign field, it is not an actual connected peer.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CEAA4-378A-4899-844C-E4E05E1F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3424091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8F63A-112B-4E58-88CD-3C008740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16 / MICROSOFT MANAGEMENT CONSOLE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5B88A-36B5-467A-B3ED-4CE02D23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MMC is the toolbox—not the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0C8AA-3A3A-4594-BD34-2ECB463E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36385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3AABE-E82B-42E9-A89B-39611B70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devmgmt.msc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2AF3B-7BF3-4EB3-B4F3-95D4E79D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Device Manager: hardware and drivers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CFEEE-4DB4-41E5-A500-21212F51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57325"/>
            <a:ext cx="36385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FE9C0-24A3-4E44-8EDA-AB78E02C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972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services.msc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9EEA4-5352-4F29-A984-59B139CC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Services: background service status and startup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1245F-C9FB-4386-95B8-89C3C19F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57325"/>
            <a:ext cx="36385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05FC0-B627-4F92-87DD-FFAED5BC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0972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eventvwr.msc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0A4E8-3ECD-4071-9423-6B4CD5CC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85975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Event Viewer: recorded errors and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7DF57-B448-43E5-8FF3-33E04F71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36385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1CF49-0091-4E04-881F-1619397D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perfmon.msc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1F8CB-5B04-4E4F-B082-A5925B3F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Performance Monitor: counters over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9CC99-2DAB-464E-A9FD-B55F8841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71875"/>
            <a:ext cx="36385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102B6-8E65-4802-8E4D-330A7AA2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2427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wf.msc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B1B1D-D2A9-4083-9758-DAF5D545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00525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Firewall with Advanced Security: rules and profiles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27EBE-E4DE-41F2-B7DB-9D672EE0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36385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73F03-22DD-4106-B5F1-409062BA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2427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compmgmt.msc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D4D36-F90E-41B2-BF26-E19D2B47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00525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Computer Management: a collection of management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44C59-C05F-431E-B075-49AC5268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08A1F-724C-4A17-9BA8-A0D97991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Win + R → mmc opens a console. File → Add/Remove Snap-in adds tools. Task Manager and Resource Monitor are separate apps.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13BEB-CB4C-4ED0-83B6-CE0AE716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14508696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59DD9-7227-41CA-A804-7DA1A240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17 / PORT → PID → PROCESS →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0FD48-07C5-44E9-9F58-FC0DD052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Connect the endpoint to the program or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7D247-AC5A-4B00-9990-BEC3645A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6834A-6505-4443-A282-96CC4466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8E564-7A28-4A6A-B337-F480F6C2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netstat -ano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F1DBE-9384-4808-A3EB-C88043FA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B6C61-3C93-4D7E-BA23-FBFD4BAB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PID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D0D0D-6387-461E-A18D-1DED63F5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e.g. 6840</a:t>
            </a:r>
          </a:p>
        </p:txBody>
      </p: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861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968CC-9BE6-4002-A106-C9066268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F91C2-932F-4020-AE57-C6110F08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3DF3A-105A-4A59-96AB-DA10C622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Task Manager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817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2F6EF-C914-4192-AB12-51BE9FBE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23C0A-F9AA-4EB1-8C8E-613C14B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SERVICE?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0D0E3-A547-4C8D-95F8-0C179E95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If service-hosted</a:t>
            </a:r>
          </a:p>
        </p:txBody>
      </p: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773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9F768-DB37-4C0F-A9BB-F11B7E43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5524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9FD35-545F-4E59-99DC-3BDA21CD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Find the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2BE2E-5927-498A-ACA2-A7E44CA0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Task Manager → Details → match PID. A browser often uses several processes, so check the actual owner instead of its name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F55D2-3207-438C-9A21-311150A7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5524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48F94-78E3-4A10-AB58-D4AE207E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Find a service, if relevant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F5971-5DB5-403F-9E80-6854C6A2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tasklist /svc lists service-to-process associations. services.msc shows service status; not every process is a Windows service.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9F923-6B4B-47CC-B101-4EB7656E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DDB32-F942-4A57-AF80-912ADF09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Running service ≠ reachable port. A service may have no network listener; a listener may be blocked from remote access.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D1E844-A9C1-4F71-B79B-6BA0A343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18383547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6DB2F-F58A-4443-85CC-8ED81F95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18 / TASK MANAGER • RESOURCE MONITOR • PERFMON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39070-1EF1-4142-A702-0708C802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Three views, three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E474D-10B4-4794-BB00-23483AA2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FAEAF-DBC8-4ABB-8F1A-276055F5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Task Manager: is the PC busy?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CDB27-AA51-4A7F-B60B-A2411239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Ctrl + Shift + Esc → Performance → Ethernet/Wi-Fi. See adapter send/receive activity. CPU, memory and disk views help spot other bottlenecks.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1F4E4-B0FE-4AF2-A955-CC0B717F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91FEC-D4BF-446D-9E2E-1226D512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Resource Monitor: who is sending?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2789F-A4CC-408D-AD39-87651F3E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Win + R → resmon → Network. Expand Processes with Network Activity, Network Activity, TCP Connections and Listening Ports.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78C9B-2BD2-4F81-BF46-D97A5E5E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42DB1-3940-4129-A4E9-F3752A76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Performance Monitor: what changes?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C6286-9759-4FBA-98FC-A3B82808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Win + R → perfmon. Select Performance Monitor, add counters with +, then observe rates over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802FA-58F4-425F-B67C-F0DDBFB2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7CD09-F399-4AE7-80BD-D8E8242A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Use each at the right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94201-6894-4F3B-994E-7031847C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Task Manager = quick overview. Resource Monitor = process/endpoints. PerfMon = chosen counters and trends. None proves page content is correct.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DC7E5-2736-4B7A-8D57-611A91BA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4694C-972F-4A23-B151-EFCD0AFB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Network activity can come from updates, sync apps, antivirus, browsers and services—not just your open page.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6097C-2D11-4B9D-8870-49A5010B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3832023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94511-B48C-4C70-9A03-1680B283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19 / RESOURCE MONITOR + COUNTER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60B52-C8AE-4A6B-8735-A9ABA128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Traffic direction and rates, made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73E5E-51C1-46FD-A123-D50C4FE2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E9EFF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48AA5-309D-49C8-8A93-06E41D54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906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Resource Monitor → Network • illustrative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6F764-CD65-40FD-99C6-F220AC59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4283F"/>
                </a:solidFill>
                <a:latin typeface="Menlo"/>
                <a:ea typeface="Menlo"/>
                <a:cs typeface="Menlo"/>
              </a:rPr>
              <a:t>Process       PID     Send (B/sec)   Receive (B/sec)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C921B-CC2E-4174-AA17-1ECE41C1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4283F"/>
                </a:solidFill>
                <a:latin typeface="Menlo"/>
                <a:ea typeface="Menlo"/>
                <a:cs typeface="Menlo"/>
              </a:rPr>
              <a:t>msedge.exe    6840       2,000           80,000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E5D72-FAC1-47EE-ACBA-33E84F5E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4283F"/>
                </a:solidFill>
                <a:latin typeface="Menlo"/>
                <a:ea typeface="Menlo"/>
                <a:cs typeface="Menlo"/>
              </a:rPr>
              <a:t>Local: 192.168.50.25:51514   Remote: 203.0.113.80:443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32BA5-2DDC-47B3-B7DB-C2EB4916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4283F"/>
                </a:solidFill>
                <a:latin typeface="Menlo"/>
                <a:ea typeface="Menlo"/>
                <a:cs typeface="Menlo"/>
              </a:rPr>
              <a:t>80,000 bytes/sec × 8 = 640,000 bits/sec = 0.64 Mb/sec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D0ED8-B47C-4B60-B718-FCF50980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5524500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E1C32-AB01-447D-8A78-DD9CECE4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Send versus receive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BD4C5-9E0C-4156-9AD6-3C81718C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5143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Send leaves this PC. Receive enters this PC. A web request sends data; the reply often receives more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16453-7A11-4D87-9B3A-9840F4D9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5524500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CD9AB-3DC2-4755-A2A4-6B06DB64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Counters to add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9BDCF-373B-423A-9DE4-0C0FDBC6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5143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Network Interface → Bytes Sent/sec, Bytes Received/sec and Bytes Total/sec. Choose the active adapter instance.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CE66F-4F42-4B9A-ADD1-8E274CBF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3E3A7-24EC-4842-A042-7B400AF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Link speed is capacity, not guaranteed throughput. An idle 1 Gb/s adapter can correctly show almost no traffic.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D3591-AE4E-4E1B-B261-B2F691C3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9313980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49B05-2420-43FA-9B14-6E08660E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20 / TWO WINDOWS FEATURES WITH SIMILAR NAMES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1A0D7-56BB-48CF-9913-4B12B5D0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Performance settings are not traffic monitors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B98FF-7101-4424-84E8-B563B528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8113D-FA89-4303-92E1-8C6B8573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Performance Options =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16605-BC3B-45E8-85CC-C477956D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Search Start for “Adjust the appearance and performance of Windows.” Visual Effects changes animation/display choices.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37DEC-4332-4BC3-882C-4399FC72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02998-2C9B-4503-84AF-2DC238BB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Another way to find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F8341-19AA-4A3B-A3E1-F086E3DB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Win + R → sysdm.cpl → Advanced → Performance → Settings. Advanced includes processor scheduling and virtual memory options.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1A6C1-C60A-4E08-808F-CD3147C3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76466-5DA8-47C3-A0B6-A5EB743E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Performance Monitor = measurement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92204-A2D4-4A3F-B23A-B7FA35E9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Win + R → perfmon. Counters help track CPU, memory, disk or network use. It measures; it does not automatically fix the cause.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4079E-C918-4AEB-BDB8-1F8726B0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B6FB5-9AFA-46D4-9843-9338E17A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Virtual memory, defined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361D8-ED0D-4BD2-84D3-18C6093A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Windows can use a paging file with RAM to support committed memory. More paging is not the same thing as faster networking.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788FC-14AC-45D2-94EB-209F9E2B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2ECA0-1F6A-4AF9-BCAD-BDC7D95F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Do not change virtual memory, services or driver settings merely to watch a web request.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E8523-31F3-45EB-98BD-3A047526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12202308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28355-B69B-4A21-9A8C-6A39A703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21 / EDGE DEVTOOLS •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553FA-5FF9-418B-8C60-10DC9141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Watch the browser’s actual requests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1B5C4-7822-49EB-8914-F14CBA3D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E9EFF7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6E69A-EBE7-46E6-8326-97BE439C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906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Edge → F12 / Ctrl + Shift + I → Network → reload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A370F-4D4B-47F2-A110-44C367C0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4283F"/>
                </a:solidFill>
                <a:latin typeface="Menlo"/>
                <a:ea typeface="Menlo"/>
                <a:cs typeface="Menlo"/>
              </a:rPr>
              <a:t>Name            Status     Type       Waterfall (illustration)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D759A-F042-4FFB-9AA9-922FE4AC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4283F"/>
                </a:solidFill>
                <a:latin typeface="Menlo"/>
                <a:ea typeface="Menlo"/>
                <a:cs typeface="Menlo"/>
              </a:rPr>
              <a:t>document        200        document   ━━━━━━━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F0F8E-59DC-4281-A67D-20F56119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4283F"/>
                </a:solidFill>
                <a:latin typeface="Menlo"/>
                <a:ea typeface="Menlo"/>
                <a:cs typeface="Menlo"/>
              </a:rPr>
              <a:t>styles.css      200        stylesheet      ━━━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EEED2-B71E-47DA-B390-D9E7CA36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83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4283F"/>
                </a:solidFill>
                <a:latin typeface="Menlo"/>
                <a:ea typeface="Menlo"/>
                <a:cs typeface="Menlo"/>
              </a:rPr>
              <a:t>app.js          200        script          ━━━━━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0436C-1DB0-4043-ACC8-43D30CEF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5524500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5FC21-415C-44E9-8352-A06593C9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Inspect one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DD6B1-6CBA-45D4-8A13-D9FEA3FD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5143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Select a row. Review headers, status and timing. The waterfall shows request timing; several resources can overlap.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D8DF5-DD4C-4A69-919C-341B68D7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5524500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24DAA-6F3D-498C-95F1-C83E368D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Match the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A0477-FBD7-4F7E-AE0B-05749B46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5143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A DNS delay, connection delay, TLS issue and server wait are different stages. A reused connection may show no new handshake.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84F19-5D32-45A5-8983-4FB4516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2130C-6F2C-4575-859C-8C91B1AF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Open Network before reloading. DevTools shows this page’s requests; it does not show every Windows service’s traffic.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5EF18-88AE-4568-938E-89D0BB1E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12355144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929CC-0C07-4855-B053-D97C48D4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22 / ALLOW THE TRAFFIC? TRANSLATE THE ADDRESS?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8A804-D7BA-4C4A-BA43-49A1552D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Firewall and NAT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9E678-5EAB-458F-AC2D-A7B18F2D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7E315-D0B4-40E9-8C79-980413D4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7C8D4-1C40-482B-9851-59A8990E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Private endpoint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43784-F9DE-4248-B65E-714FA910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71458-7F87-487B-B6D6-10768F0F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FIREWALL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5056-7B56-4210-9F30-888BBE2A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Policy decision</a:t>
            </a:r>
          </a:p>
        </p:txBody>
      </p: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861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09E86-0582-469E-842B-7D1C0458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7EE46-3648-4ACE-94A3-ACDB4884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NAT / PAT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8CEC0-1623-4EA4-B6C4-5B342A9E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If gateway uses it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817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1BC3D-106A-4E14-B14A-26420EDC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28775"/>
            <a:ext cx="2628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38B8C-22ED-496E-94F2-E976CC82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1934C-9FBC-42F4-B6FC-B4953D2A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2362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Public endpoint</a:t>
            </a:r>
          </a:p>
        </p:txBody>
      </p: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77300" y="22240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D379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4B076-DF76-4F23-8856-D6E6A50F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5524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6D50B-BFDD-45DE-8F12-E73900E8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Firewall = permit or block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DE813-95A1-4930-9F7C-051693C0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Windows filters traffic by rules, profiles, programs and other properties. Default behavior generally allows outbound and blocks unsolicited inbound.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E6DC4-9858-4F7C-A048-FE52EA9D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5524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860D1-29F2-48BC-937E-EF85A77B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NAT / PAT = translate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1DCBD0-55F8-4265-BEC6-21AD8CE0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Network Address Translation can replace private addresses at an IPv4 gateway. Port Address Translation also maps transport ports.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6F2C4-23FA-4928-B4F3-0C9A7FD7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90CF1-2522-4D98-A57F-A73665F5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A reply to an allowed outbound connection is different from a new unsolicited inbound connection. Keep the firewall enabled.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2A1207-5064-4029-9E1D-A99324F9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10113688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2E806-D111-48AF-9461-494F8EDE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23 / NO CONFIGURATION CHANGES REQUIRED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958A1-49D4-4843-AB23-55A3406B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A real Windows lab: observe your own page 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CCC6F-2E11-4215-AF6C-A8FEE1CA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D5E9C-D051-46E1-AD0E-B0B71413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  Identify your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67E8F-7DA6-444D-A831-BA89E6E2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Open Command Prompt. Run ipconfig /all. Write down only your active adapter, IP, mask, gateway and DNS for your own notes.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38974-FA6B-41A0-AEB6-E446BC34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9D83C-0938-4723-94D1-D7FAF74A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2  Set up live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8B2DF-9703-4F48-81BD-F06DDBAD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Open resmon → Network. In another Command Prompt run netstat -ano 2. Open Edge DevTools → Network.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57792-857F-4019-B197-BCE6EECA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6CF0E-FA43-4DBB-906B-7245126D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3  Generate real traffic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FB5B4-1BD1-41BE-83D2-ACDC5910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Open https://example.com in Edge, then reload. Observe browser rows, PIDs and send/receive activity. Ctrl+C stops netstat.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6E42E-A1B6-40EF-A927-E35CF7B0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6EAE2-364F-4A41-B040-5FE9AD89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4  Correlate, don’t assume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DB3E9-5A3F-47C0-9D5B-3CA12B46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Match PID in Task Manager → Details. Compare remote endpoints, activity and browser requests. A short connection may be missed between samples.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F8CFD-C8B8-4273-8B33-E47C2A75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F5818-8B08-4E53-8055-C50EAAF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A modern browser may use caches, existing connections or QUIC. Your results will not exactly match our staged TCP example.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52344-1EAF-4DFC-850E-FB872EAD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4889732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7066F-A9B9-4BF1-AD9C-2BD6E003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24 / WHERE DOES THE CHAIN BREAK?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4A1E0-6345-4BE8-B2E6-04F341C3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Troubleshoot in layers; collect evidence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0BF5C-6C60-47DA-9BDD-0D042CE5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26A54-A423-4621-B50A-432F57A1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No link or adapter problem?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D59CA-C2F3-4917-96B5-53F5D280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Check cable/Wi-Fi, adapter status and Device Manager. A disabled adapter or driver error comes before DNS troubleshooting.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3306E-FA69-42EB-99B7-BE0FFB22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56F49-F128-4BE1-8204-74799D9F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Wrong IP / gateway?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A43A9-862B-44A6-B78C-C00DE3CD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Compare ipconfig /all with the network’s intended settings. APIPA may point toward a DHCP problem. Local access and Internet access differ.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D3C1E-0C7A-42D8-946C-253E4DD8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9A535-6429-4546-87EF-6E0BA13F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Names fail, IP path works?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B1C8F-2CE4-4BA7-8891-BFA60F66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Check DNS configuration and nslookup. ping and tracert can help, but filtered ICMP replies are not proof a site is down.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F94EB-5E20-4623-B9E2-09390BD9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D5209-2AC7-4F42-B997-55BB355A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TCP works, page still fails?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43912-41BC-4763-B820-313520A9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Inspect TLS/certificate, browser Network status and server response. ESTABLISHED does not prove an application response succeeded.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8E626-ED3A-471A-957F-F7779225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88726-AE45-4C2D-A9FA-99E5AA32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Choose the next test from the symptom. Do not “fix everything” at once—you lose the evidence of what actually helped.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79A29-B73B-4C81-931D-2DAE106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208030661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CD3FC-3BC0-44D6-8224-1288EC5E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25 / ACRONYMS •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C4E53-D6EE-4E69-96F1-53E089FA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The words behind the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5A8B2-CA93-4B2C-BC7C-5086A4F6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36385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49268-B493-4C89-9017-B2675FB9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IP / IPv4 / IPv6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8A057-C221-4E76-92AE-4FF7E96C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Internet Protocol / version 4 / version 6. Logical network addressing and packet delivery.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AD674-9036-48FB-96E1-A1AFC4DB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57325"/>
            <a:ext cx="36385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349B1-2D00-4C85-9180-0670A9C1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0972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TCP / UDP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F3C5A-65EA-4575-8661-88E8C971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Transmission Control Protocol / User Datagram Protocol. TCP is connection-oriented; UDP sends datagrams without a TCP handshake.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DF1EF-F122-4805-B205-2B2768BB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57325"/>
            <a:ext cx="36385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D03F1-6D6E-493C-B043-6F8C6F0E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0972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DNS /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AB4E3-B9BC-46C5-A20B-9F385829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85975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Domain Name System / Dynamic Host Configuration Protocol. Find names / obtain network configuration.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D0953-AA32-4B1D-A54E-3C859E35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36385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093A3-F4AC-4A8A-BC33-1B45CDC6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ARP / MAC / NIC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7FA36-90DD-409A-97DA-5AF902F6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Address Resolution Protocol / Media Access Control / network interface card or controller. Local delivery and hardware.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FF6B1-73B8-410B-B8BD-77F1D31F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71875"/>
            <a:ext cx="36385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578F0-DD0E-4839-8300-A7F3169A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2427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TTL / ICMP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94C39-F495-4A3E-A2CF-B502F8E8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00525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Time To Live / Internet Control Message Protocol. Packet lifetime limit / network control and diagnostic messages.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97518-4A27-4695-91DB-09DE8884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36385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585D5-4BC4-41E1-BAA1-F7C99F87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2427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MMC / PID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BEB395-4170-43C9-A358-82B0765A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00525"/>
            <a:ext cx="3257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Microsoft Management Console / process identifier. Management tool host / number identifying a running process.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48D66-995F-4451-8E60-3A49E454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CD133-7B5C-4DF5-B865-5FDA81A2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Remember the job before memorizing the letters: name → address → route → connection → protected request.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0B587-C5CD-4124-97FC-A0C68694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1533352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F38E3-8CE6-4138-8509-0C2D7EE0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26 / THREE CHECKPOINTS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407F2-A4CA-4BF1-AF20-B065A6FA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Can you explain it without guessing?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7D766-EE99-4386-AC3A-B4882DBB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3638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C6317-6590-4FB1-AC8E-1F41B771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1  Port puzzle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28285-5F79-4FBA-9E90-A8963EE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14575"/>
            <a:ext cx="32575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The browser uses local port 51514 and remote port 443. Which port receives the server’s reply on the laptop?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1B68A-C8B7-440F-84BA-4D5D394B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85925"/>
            <a:ext cx="3638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68A62-4993-4A29-97F3-4D97FE7A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3832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2  TTL puzzle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BC749-ADB3-4E1A-B792-3AE7BBE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14575"/>
            <a:ext cx="32575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A router forwards a packet; a DNS cache reuses a record for 300 seconds. Which TTL belongs to each event?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E72DB-6968-4AE1-B5F4-16EA2A6B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85925"/>
            <a:ext cx="3638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39647-5BBE-43DC-B523-BEB40B06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38325"/>
            <a:ext cx="325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3  Tool puzzle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2FBA3-A9F9-45B7-AAD0-A18FA468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14575"/>
            <a:ext cx="32575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You need to find which process sends traffic, then check the network adapter’s driver. Which two Windows tools fit those tasks?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9E393-8DA5-4495-9F99-661AEEEE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8E872-A0C5-4C71-96C6-6E9886A4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Say your answer first. Explanations are in the speaker notes and the interactive guide’s answer panel.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9ED75-C186-4C20-86F7-6FD4E589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15368507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9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B702C-A2F6-4610-A4BF-C34E114B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27 / SCOPE • SOURCES • NEXT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E0DC4-482F-4018-BB96-9D07D68F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0550"/>
            <a:ext cx="1133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What this guide is—and where to verify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C3EF3-53ED-4A66-B354-D52F9982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E16C5-54CB-43C8-99E1-43F4907B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Core 2 alignment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5C8B6-E6ED-499D-BD36-1E8CFAD8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220-1202: 1.4 Windows tools; 1.5 commands; 1.6 Windows settings; 1.7 client networking. Protocol explanations provide supporting foundations.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4027E-1083-4158-8376-6F75B35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5732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72092-E604-47AB-8D9A-3BCE2341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9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Primary references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897FB-A4DD-4866-A739-87F58702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CompTIA objectives define scope. Microsoft documents Windows tools. IETF RFCs define protocols. Full clickable sources accompany this deck.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2DB62-28F4-4CD3-9F92-6036169D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75290-FEBC-49C2-82B9-0788D71F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Practice with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45474-044E-4A57-A2A1-3F641794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Use the interactive simulation to slow down the sequence. Then use the Windows lab to observe actual traffic on your own PC.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52A76-739E-4DE1-8CB7-5ECB9EEA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5524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9525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3A912-3309-4423-BE18-3A23461E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2DEED"/>
                </a:solidFill>
                <a:latin typeface="Helvetica Neue"/>
                <a:ea typeface="Helvetica Neue"/>
                <a:cs typeface="Helvetica Neue"/>
              </a:rPr>
              <a:t>Know the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700FE-19A1-48FC-997B-FE56E674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05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3F7FC"/>
                </a:solidFill>
                <a:latin typeface="Helvetica Neue"/>
                <a:ea typeface="Helvetica Neue"/>
                <a:cs typeface="Helvetica Neue"/>
              </a:rPr>
              <a:t>Independent study material, not official exam questions. All illustrated screens and lab IPs are examples. Menus and observed traffic can vary.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8CA59-A396-4F25-B9D8-431E8EC8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0364B"/>
          </a:solidFill>
          <a:ln xmlns:a="http://schemas.openxmlformats.org/drawingml/2006/main" w="9525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3479F-CB6C-4DEF-AE82-40C3366A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D379"/>
                </a:solidFill>
                <a:latin typeface="Helvetica Neue"/>
                <a:ea typeface="Helvetica Neue"/>
                <a:cs typeface="Helvetica Neue"/>
              </a:rPr>
              <a:t>Explain the stage. Name the tool. State what the evidence proves—and what it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E3918-3489-4890-8B3E-1B922144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629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9DE"/>
                </a:solidFill>
                <a:latin typeface="Helvetica Neue"/>
                <a:ea typeface="Helvetica Neue"/>
                <a:cs typeface="Helvetica Neue"/>
              </a:rPr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657288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2026-09-29T18:20:09.0960000Z</dcterms:created>
  <dcterms:modified xsi:type="dcterms:W3CDTF">2026-09-29T18:20:09.0960000Z</dcterms:modified>
</coreProperties>
</file>